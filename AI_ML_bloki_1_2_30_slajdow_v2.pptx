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a41f866e1405c" /><Relationship Type="http://schemas.openxmlformats.org/officeDocument/2006/relationships/extended-properties" Target="/docProps/app.xml" Id="R466b76a34e934d50" /><Relationship Type="http://schemas.openxmlformats.org/officeDocument/2006/relationships/officeDocument" Target="/ppt/presentation.xml" Id="R3b6e9c51c28d4c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b526e402e24e3d"/>
  </p:sldMasterIdLst>
  <p:notesMasterIdLst>
    <p:notesMasterId xmlns:r="http://schemas.openxmlformats.org/officeDocument/2006/relationships" r:id="R061bd570b41146e8"/>
  </p:notesMasterIdLst>
  <p:sldIdLst>
    <p:sldId xmlns:r="http://schemas.openxmlformats.org/officeDocument/2006/relationships" id="256" r:id="Rf797f6bf97714f8a"/>
    <p:sldId xmlns:r="http://schemas.openxmlformats.org/officeDocument/2006/relationships" id="257" r:id="R54e4477532a644ac"/>
    <p:sldId xmlns:r="http://schemas.openxmlformats.org/officeDocument/2006/relationships" id="258" r:id="R1d9f17a96af745c0"/>
    <p:sldId xmlns:r="http://schemas.openxmlformats.org/officeDocument/2006/relationships" id="259" r:id="R74cf140d980b4403"/>
    <p:sldId xmlns:r="http://schemas.openxmlformats.org/officeDocument/2006/relationships" id="260" r:id="Rcf9db1ed6c0c40db"/>
    <p:sldId xmlns:r="http://schemas.openxmlformats.org/officeDocument/2006/relationships" id="261" r:id="Rd92de77571724948"/>
    <p:sldId xmlns:r="http://schemas.openxmlformats.org/officeDocument/2006/relationships" id="262" r:id="R660b5e984c264f59"/>
    <p:sldId xmlns:r="http://schemas.openxmlformats.org/officeDocument/2006/relationships" id="263" r:id="R3c6a381648814e75"/>
    <p:sldId xmlns:r="http://schemas.openxmlformats.org/officeDocument/2006/relationships" id="264" r:id="R36a24a7b041540da"/>
    <p:sldId xmlns:r="http://schemas.openxmlformats.org/officeDocument/2006/relationships" id="265" r:id="R86e327de6bfd4931"/>
    <p:sldId xmlns:r="http://schemas.openxmlformats.org/officeDocument/2006/relationships" id="266" r:id="R2c6983d4e15246f0"/>
    <p:sldId xmlns:r="http://schemas.openxmlformats.org/officeDocument/2006/relationships" id="267" r:id="R52d4f3a36cd04412"/>
    <p:sldId xmlns:r="http://schemas.openxmlformats.org/officeDocument/2006/relationships" id="268" r:id="Rb1b83753124046a7"/>
    <p:sldId xmlns:r="http://schemas.openxmlformats.org/officeDocument/2006/relationships" id="269" r:id="R823d8b977d844974"/>
    <p:sldId xmlns:r="http://schemas.openxmlformats.org/officeDocument/2006/relationships" id="270" r:id="R3e3f13a7dba24803"/>
    <p:sldId xmlns:r="http://schemas.openxmlformats.org/officeDocument/2006/relationships" id="271" r:id="Ra76285c2815a4f87"/>
    <p:sldId xmlns:r="http://schemas.openxmlformats.org/officeDocument/2006/relationships" id="272" r:id="R1534f4a87f3947d0"/>
    <p:sldId xmlns:r="http://schemas.openxmlformats.org/officeDocument/2006/relationships" id="273" r:id="Rad6c4a46b5924c30"/>
    <p:sldId xmlns:r="http://schemas.openxmlformats.org/officeDocument/2006/relationships" id="274" r:id="R3b92e9a9d94b4c4e"/>
    <p:sldId xmlns:r="http://schemas.openxmlformats.org/officeDocument/2006/relationships" id="275" r:id="Rbccccdfdc20a4787"/>
    <p:sldId xmlns:r="http://schemas.openxmlformats.org/officeDocument/2006/relationships" id="276" r:id="Rcf61ecc1b4e446fb"/>
    <p:sldId xmlns:r="http://schemas.openxmlformats.org/officeDocument/2006/relationships" id="277" r:id="Re472ba144ef34e6a"/>
    <p:sldId xmlns:r="http://schemas.openxmlformats.org/officeDocument/2006/relationships" id="278" r:id="Re0d72c37655f4848"/>
    <p:sldId xmlns:r="http://schemas.openxmlformats.org/officeDocument/2006/relationships" id="279" r:id="R1cdef9a54bc84e47"/>
    <p:sldId xmlns:r="http://schemas.openxmlformats.org/officeDocument/2006/relationships" id="280" r:id="R10929635325547de"/>
    <p:sldId xmlns:r="http://schemas.openxmlformats.org/officeDocument/2006/relationships" id="281" r:id="R1f9615e27fb1487b"/>
    <p:sldId xmlns:r="http://schemas.openxmlformats.org/officeDocument/2006/relationships" id="282" r:id="R1bab02dd834641df"/>
    <p:sldId xmlns:r="http://schemas.openxmlformats.org/officeDocument/2006/relationships" id="283" r:id="R87a416bbe4da4a50"/>
    <p:sldId xmlns:r="http://schemas.openxmlformats.org/officeDocument/2006/relationships" id="284" r:id="Rcde70406b74c408b"/>
    <p:sldId xmlns:r="http://schemas.openxmlformats.org/officeDocument/2006/relationships" id="285" r:id="R1faf755168f14d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af1db5319a4291" /><Relationship Type="http://schemas.openxmlformats.org/officeDocument/2006/relationships/slideMaster" Target="/ppt/slideMasters/slideMaster1.xml" Id="R03b526e402e24e3d" /><Relationship Type="http://schemas.openxmlformats.org/officeDocument/2006/relationships/notesMaster" Target="/ppt/notesMasters/notesMaster1.xml" Id="R061bd570b41146e8" /><Relationship Type="http://schemas.openxmlformats.org/officeDocument/2006/relationships/presProps" Target="/ppt/presProps.xml" Id="R6927a989d0954c82" /><Relationship Type="http://schemas.openxmlformats.org/officeDocument/2006/relationships/tableStyles" Target="/ppt/tableStyles.xml" Id="R7e2c2514d60843f1" /><Relationship Type="http://schemas.openxmlformats.org/officeDocument/2006/relationships/slide" Target="/ppt/slides/slide1.xml" Id="Rf797f6bf97714f8a" /><Relationship Type="http://schemas.openxmlformats.org/officeDocument/2006/relationships/slide" Target="/ppt/slides/slide2.xml" Id="R54e4477532a644ac" /><Relationship Type="http://schemas.openxmlformats.org/officeDocument/2006/relationships/slide" Target="/ppt/slides/slide3.xml" Id="R1d9f17a96af745c0" /><Relationship Type="http://schemas.openxmlformats.org/officeDocument/2006/relationships/slide" Target="/ppt/slides/slide4.xml" Id="R74cf140d980b4403" /><Relationship Type="http://schemas.openxmlformats.org/officeDocument/2006/relationships/slide" Target="/ppt/slides/slide5.xml" Id="Rcf9db1ed6c0c40db" /><Relationship Type="http://schemas.openxmlformats.org/officeDocument/2006/relationships/slide" Target="/ppt/slides/slide6.xml" Id="Rd92de77571724948" /><Relationship Type="http://schemas.openxmlformats.org/officeDocument/2006/relationships/slide" Target="/ppt/slides/slide7.xml" Id="R660b5e984c264f59" /><Relationship Type="http://schemas.openxmlformats.org/officeDocument/2006/relationships/slide" Target="/ppt/slides/slide8.xml" Id="R3c6a381648814e75" /><Relationship Type="http://schemas.openxmlformats.org/officeDocument/2006/relationships/slide" Target="/ppt/slides/slide9.xml" Id="R36a24a7b041540da" /><Relationship Type="http://schemas.openxmlformats.org/officeDocument/2006/relationships/slide" Target="/ppt/slides/slide10.xml" Id="R86e327de6bfd4931" /><Relationship Type="http://schemas.openxmlformats.org/officeDocument/2006/relationships/slide" Target="/ppt/slides/slide11.xml" Id="R2c6983d4e15246f0" /><Relationship Type="http://schemas.openxmlformats.org/officeDocument/2006/relationships/slide" Target="/ppt/slides/slide12.xml" Id="R52d4f3a36cd04412" /><Relationship Type="http://schemas.openxmlformats.org/officeDocument/2006/relationships/slide" Target="/ppt/slides/slide13.xml" Id="Rb1b83753124046a7" /><Relationship Type="http://schemas.openxmlformats.org/officeDocument/2006/relationships/slide" Target="/ppt/slides/slide14.xml" Id="R823d8b977d844974" /><Relationship Type="http://schemas.openxmlformats.org/officeDocument/2006/relationships/slide" Target="/ppt/slides/slide15.xml" Id="R3e3f13a7dba24803" /><Relationship Type="http://schemas.openxmlformats.org/officeDocument/2006/relationships/slide" Target="/ppt/slides/slide16.xml" Id="Ra76285c2815a4f87" /><Relationship Type="http://schemas.openxmlformats.org/officeDocument/2006/relationships/slide" Target="/ppt/slides/slide17.xml" Id="R1534f4a87f3947d0" /><Relationship Type="http://schemas.openxmlformats.org/officeDocument/2006/relationships/slide" Target="/ppt/slides/slide18.xml" Id="Rad6c4a46b5924c30" /><Relationship Type="http://schemas.openxmlformats.org/officeDocument/2006/relationships/slide" Target="/ppt/slides/slide19.xml" Id="R3b92e9a9d94b4c4e" /><Relationship Type="http://schemas.openxmlformats.org/officeDocument/2006/relationships/slide" Target="/ppt/slides/slide20.xml" Id="Rbccccdfdc20a4787" /><Relationship Type="http://schemas.openxmlformats.org/officeDocument/2006/relationships/slide" Target="/ppt/slides/slide21.xml" Id="Rcf61ecc1b4e446fb" /><Relationship Type="http://schemas.openxmlformats.org/officeDocument/2006/relationships/slide" Target="/ppt/slides/slide22.xml" Id="Re472ba144ef34e6a" /><Relationship Type="http://schemas.openxmlformats.org/officeDocument/2006/relationships/slide" Target="/ppt/slides/slide23.xml" Id="Re0d72c37655f4848" /><Relationship Type="http://schemas.openxmlformats.org/officeDocument/2006/relationships/slide" Target="/ppt/slides/slide24.xml" Id="R1cdef9a54bc84e47" /><Relationship Type="http://schemas.openxmlformats.org/officeDocument/2006/relationships/slide" Target="/ppt/slides/slide25.xml" Id="R10929635325547de" /><Relationship Type="http://schemas.openxmlformats.org/officeDocument/2006/relationships/slide" Target="/ppt/slides/slide26.xml" Id="R1f9615e27fb1487b" /><Relationship Type="http://schemas.openxmlformats.org/officeDocument/2006/relationships/slide" Target="/ppt/slides/slide27.xml" Id="R1bab02dd834641df" /><Relationship Type="http://schemas.openxmlformats.org/officeDocument/2006/relationships/slide" Target="/ppt/slides/slide28.xml" Id="R87a416bbe4da4a50" /><Relationship Type="http://schemas.openxmlformats.org/officeDocument/2006/relationships/slide" Target="/ppt/slides/slide29.xml" Id="Rcde70406b74c408b" /><Relationship Type="http://schemas.openxmlformats.org/officeDocument/2006/relationships/slide" Target="/ppt/slides/slide30.xml" Id="R1faf755168f14d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c1c309e8d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b2c34a78846ac" /><Relationship Type="http://schemas.openxmlformats.org/officeDocument/2006/relationships/notesMaster" Target="/ppt/notesMasters/notesMaster1.xml" Id="R3ba0aec1ce3b4a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bc71fd5574bc6" /><Relationship Type="http://schemas.openxmlformats.org/officeDocument/2006/relationships/notesMaster" Target="/ppt/notesMasters/notesMaster1.xml" Id="R29c3942f122c4a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692425dd544886" /><Relationship Type="http://schemas.openxmlformats.org/officeDocument/2006/relationships/notesMaster" Target="/ppt/notesMasters/notesMaster1.xml" Id="R7c8444e09c5b49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635ed0d3d4f0e" /><Relationship Type="http://schemas.openxmlformats.org/officeDocument/2006/relationships/notesMaster" Target="/ppt/notesMasters/notesMaster1.xml" Id="R249c6db6c785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51cc5b8f254539" /><Relationship Type="http://schemas.openxmlformats.org/officeDocument/2006/relationships/notesMaster" Target="/ppt/notesMasters/notesMaster1.xml" Id="R933f1ca343f9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a33205c1f64a9e" /><Relationship Type="http://schemas.openxmlformats.org/officeDocument/2006/relationships/notesMaster" Target="/ppt/notesMasters/notesMaster1.xml" Id="R293f1cb438c343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a00e014cc24569" /><Relationship Type="http://schemas.openxmlformats.org/officeDocument/2006/relationships/notesMaster" Target="/ppt/notesMasters/notesMaster1.xml" Id="R6916b4d2d3c84b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072306ecab4507" /><Relationship Type="http://schemas.openxmlformats.org/officeDocument/2006/relationships/notesMaster" Target="/ppt/notesMasters/notesMaster1.xml" Id="R566699c8f15848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a1b1c1885447b0" /><Relationship Type="http://schemas.openxmlformats.org/officeDocument/2006/relationships/notesMaster" Target="/ppt/notesMasters/notesMaster1.xml" Id="R0cde8e6c1b1049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f1f8770bc1456f" /><Relationship Type="http://schemas.openxmlformats.org/officeDocument/2006/relationships/notesMaster" Target="/ppt/notesMasters/notesMaster1.xml" Id="R2a46d285bb2c4d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148e2cad9e4d2e" /><Relationship Type="http://schemas.openxmlformats.org/officeDocument/2006/relationships/notesMaster" Target="/ppt/notesMasters/notesMaster1.xml" Id="Rc03329bc63834a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61e24e33544811" /><Relationship Type="http://schemas.openxmlformats.org/officeDocument/2006/relationships/notesMaster" Target="/ppt/notesMasters/notesMaster1.xml" Id="Ra3223c8da5a440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808ce3ee9d4155" /><Relationship Type="http://schemas.openxmlformats.org/officeDocument/2006/relationships/notesMaster" Target="/ppt/notesMasters/notesMaster1.xml" Id="R66bd9bcd9fe44f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1a885aa02649a0" /><Relationship Type="http://schemas.openxmlformats.org/officeDocument/2006/relationships/notesMaster" Target="/ppt/notesMasters/notesMaster1.xml" Id="R5947025978e748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cc73493a714f08" /><Relationship Type="http://schemas.openxmlformats.org/officeDocument/2006/relationships/notesMaster" Target="/ppt/notesMasters/notesMaster1.xml" Id="R8ea7f409693645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a5b24967c64519" /><Relationship Type="http://schemas.openxmlformats.org/officeDocument/2006/relationships/notesMaster" Target="/ppt/notesMasters/notesMaster1.xml" Id="Rfa150307f4584d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d8f1f063d1436f" /><Relationship Type="http://schemas.openxmlformats.org/officeDocument/2006/relationships/notesMaster" Target="/ppt/notesMasters/notesMaster1.xml" Id="Rc1ad7d80b4ef42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cf1e06685743ff" /><Relationship Type="http://schemas.openxmlformats.org/officeDocument/2006/relationships/notesMaster" Target="/ppt/notesMasters/notesMaster1.xml" Id="Rf7612c3c71944c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dd32a2423442e2" /><Relationship Type="http://schemas.openxmlformats.org/officeDocument/2006/relationships/notesMaster" Target="/ppt/notesMasters/notesMaster1.xml" Id="R482ae1d9769443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7d40e1151341f2" /><Relationship Type="http://schemas.openxmlformats.org/officeDocument/2006/relationships/notesMaster" Target="/ppt/notesMasters/notesMaster1.xml" Id="R4c578bb5c2ad471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f5fa5e53314d95" /><Relationship Type="http://schemas.openxmlformats.org/officeDocument/2006/relationships/notesMaster" Target="/ppt/notesMasters/notesMaster1.xml" Id="R74198ce0a51b4e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e2c58e46c34ff0" /><Relationship Type="http://schemas.openxmlformats.org/officeDocument/2006/relationships/notesMaster" Target="/ppt/notesMasters/notesMaster1.xml" Id="R915bc7f2a7b541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fec903ce9249bd" /><Relationship Type="http://schemas.openxmlformats.org/officeDocument/2006/relationships/notesMaster" Target="/ppt/notesMasters/notesMaster1.xml" Id="R50d40a27e6154ff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d2deab740641b8" /><Relationship Type="http://schemas.openxmlformats.org/officeDocument/2006/relationships/notesMaster" Target="/ppt/notesMasters/notesMaster1.xml" Id="R8bb3ffdc1d4d445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583e9230b243e9" /><Relationship Type="http://schemas.openxmlformats.org/officeDocument/2006/relationships/notesMaster" Target="/ppt/notesMasters/notesMaster1.xml" Id="Rf94b4feca0eb4b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be44d14dff740ae" /><Relationship Type="http://schemas.openxmlformats.org/officeDocument/2006/relationships/notesMaster" Target="/ppt/notesMasters/notesMaster1.xml" Id="Ra6ce45962d7e49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b570722d12d4455" /><Relationship Type="http://schemas.openxmlformats.org/officeDocument/2006/relationships/notesMaster" Target="/ppt/notesMasters/notesMaster1.xml" Id="R07d8807771b44a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a850035cdc4f09" /><Relationship Type="http://schemas.openxmlformats.org/officeDocument/2006/relationships/notesMaster" Target="/ppt/notesMasters/notesMaster1.xml" Id="R821583ec161241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95bb647b0b4657" /><Relationship Type="http://schemas.openxmlformats.org/officeDocument/2006/relationships/notesMaster" Target="/ppt/notesMasters/notesMaster1.xml" Id="R21e6d8c63b8743d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ea55573fd4a4368" /><Relationship Type="http://schemas.openxmlformats.org/officeDocument/2006/relationships/notesMaster" Target="/ppt/notesMasters/notesMaster1.xml" Id="R5638c7506e55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Prezentacja obejmuje dwa pierwsze bloki zaktualizowanego kursu. Obrazy koncepcyjne są ilustracjami. Wszystkie dane w przykładach mają charakter dydaktyczny.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Cel: uczestnik ma umieć opisać kompletny eksperyment ML i uruchomić jego prostą wersję w notebooku.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Blok I. Zachęć grupę do podawania przykładów problemów, w których dysponujemy historycznymi danymi i chcemy przewidzieć nowy przypadek.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Pojęcia są zagnieżdżone. Nie każdy system AI jest modelem uczonym z danych; nie każdy model ML jest siecią neuronową.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Pytanie o typ wyniku od razu porządkuje dobór metody i metryki. Klasyfikacja wymaga etykiet, a segmentacja szuka struktury bez takich etykiet.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Zaznacz, że w uczeniu nienadzorowanym brak etykiety nie oznacza braku danych. W RL decyzje wpływają na kolejne obserwacje.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Wprowadzenie koncepcyjne. Nie utożsamiaj całego treningu modeli językowych wyłącznie z przewidywaniem kolejnego tokena; to przykład zadania samonadzorowanego.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Opisz iteracyjność: wynik oceny może cofnąć zespół do definicji problemu albo zbierania danych. Monitoring potrzebny jest także po wdrożeniu.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Ustal moment predykcji i dostępność cech w tym momencie. Korzyść biznesowa wymaga potem decyzji, nie tylko dokładnej prognozy.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Proporcje na slajdzie są ilustracyjne, zależą od wielkości i charakteru zbioru. Podział wykonuj przed transformacjami uczącymi się statystyk danych. Dla szeregów czasowych unikaj losowego mieszania przyszłości z przeszłością.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Rozróżnij błąd treningowy i walidacyjny. Sama wysoka dokładność treningowa nie dowodzi użyteczności modelu.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Zapis X: n obserwacji × p cech, y: n wartości docelowych. W przykładzie regresji celem jest miesięczne zużycie energii.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Intuicja: gradient jest pochodną funkcji straty względem parametrów. W wielu modelach szukamy minimum numerycznie. Zwróć uwagę na generalizację.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szkic przebiegu, a nie kompletny uruchamialny notebook. JupyterLab lub Jupyter Notebook jest środowiskiem pracy przez cały kurs. Omów uruchamianie komórek, kolejność wykonania, kernel i zapis rezultatów.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Blok II. Przechodzimy od rozumienia procesu do praktycznych operacji na danych.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Pracujemy w Jupyterze. Biblioteki są narzędziami w jednym procesie analitycznym, a nie czterema niezależnymi celami kursu.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Wyjaśnij axis 0 jako obserwacje i axis 1 jako cechy w tej tablicy. W praktyce dtype wpływa na pamięć i operacje; numeryczne tablice NumPy są jednorodne typowo.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Pokaż różnicę między widokiem a kopią przy slicing NumPy i potrzebę ostrożności przy modyfikacji danych. Dla początkujących wystarczy intuicja indeksów.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wykonuje wiele operacji na danych w kodzie zoptymalizowanym; wydajność zależy od rozmiaru danych i operacji. Nie obiecuj przewagi w każdej sytuacji.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Broadcasting nie zawsze oznacza fizyczne skopiowanie skalara. Pokaż prosty skalar, następnie ewentualnie różnicę wektor wierszowy i kolumnowy.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Ziarno kontroluje generator liczb pseudolosowych. Wyniki na tym samym środowisku są odtwarzalne, ale same eksperymenty wymagają też utrwalenia danych i wersji bibliotek.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Przykładowe dane dydaktyczne. Każdy wiersz to budynek, etykiety kolumn opisują cechy i cel. W praktyce jedna obserwacja może oznaczać budynek i miesiąc.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Przy CSV warto omówić separator, kodowanie, decimal i parsowanie dat. W przykładzie nie dołączono pliku CSV; kod ilustruje interfejs.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Nie usuwaj braków mechanicznie. Imputacja parametrów powinna być uczona wyłącznie na treningu, najlepiej wewnątrz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Rok 2026 w kodzie jest rokiem odniesienia przykładu; w danych obejmujących wiele lat lepiej liczyć wiek względem daty obserwacji. Nie wolno tworzyć cechy z docelowego kWh, gdy prognozujemy tę samą wartość.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Omów typ relacji przy merge oraz ryzyko mnożenia wierszy przy nieunikalnym kluczu. Przy danych czasowych zabezpiecz się przed użyciem informacji z przyszłości.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Zacznij od pytania analitycznego, potem wybierz wykres. Macierz korelacji pokazuje współzmienność, ale nie dowodzi związku przyczynowego.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Nie każdy obiekt implementuje wszystkie trzy metody. Estimator często ma fit/predict, transformator fit/transform. Pipeline łączy kroki w jeden proces.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 praktyce mieszane typy kolumn wymagają ColumnTransformer i osobnych transformacji. Pipeline automatyzuje fit na zbiorze treningowym i transform na walidacji/testach. Kod zakłada numeryczne cechy.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Zadanie końcowe bloku II. Dla danych czasowych podział chronologiczny. MAE jest średnim błędem bezwzględnym w jednostkach kWh. Można porównać z prostą bazą, np. prognozą opartą o poprzedni miesiąc.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fca29eb49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e9eadf64374e5a" /><Relationship Type="http://schemas.openxmlformats.org/officeDocument/2006/relationships/slideLayout" Target="/ppt/slideLayouts/slideLayout1.xml" Id="R8d0ccefc31724e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0ccefc31724e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2cff4f4fb4d7e" /><Relationship Type="http://schemas.openxmlformats.org/officeDocument/2006/relationships/image" Target="/ppt/media/image.png" Id="R0aca91b4e20b4571" /><Relationship Type="http://schemas.openxmlformats.org/officeDocument/2006/relationships/notesSlide" Target="/ppt/notesSlides/notesSlide1.xml" Id="R88f2b6e2869641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f907b347a40f2" /><Relationship Type="http://schemas.openxmlformats.org/officeDocument/2006/relationships/notesSlide" Target="/ppt/notesSlides/notesSlide2.xml" Id="R68a863a2e18740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a5be045bc4f7a" /><Relationship Type="http://schemas.openxmlformats.org/officeDocument/2006/relationships/image" Target="/ppt/media/image2.png" Id="R4c4bf769eea44238" /><Relationship Type="http://schemas.openxmlformats.org/officeDocument/2006/relationships/notesSlide" Target="/ppt/notesSlides/notesSlide3.xml" Id="Ra0e1756aa1e744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cd4dea5fa42a3" /><Relationship Type="http://schemas.openxmlformats.org/officeDocument/2006/relationships/notesSlide" Target="/ppt/notesSlides/notesSlide4.xml" Id="R17bba43e770844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f440162ea4851" /><Relationship Type="http://schemas.openxmlformats.org/officeDocument/2006/relationships/notesSlide" Target="/ppt/notesSlides/notesSlide5.xml" Id="R5c22ed0506434a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0387a48af4bab" /><Relationship Type="http://schemas.openxmlformats.org/officeDocument/2006/relationships/notesSlide" Target="/ppt/notesSlides/notesSlide6.xml" Id="R09c280357d6142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af9f4f0f14b8f" /><Relationship Type="http://schemas.openxmlformats.org/officeDocument/2006/relationships/notesSlide" Target="/ppt/notesSlides/notesSlide7.xml" Id="R05b57718d24f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3d07ee2ad406b" /><Relationship Type="http://schemas.openxmlformats.org/officeDocument/2006/relationships/notesSlide" Target="/ppt/notesSlides/notesSlide8.xml" Id="Rc514afd5476a49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4dd81d0904b9f" /><Relationship Type="http://schemas.openxmlformats.org/officeDocument/2006/relationships/notesSlide" Target="/ppt/notesSlides/notesSlide9.xml" Id="R3e9ede0e98bf43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e61937ea843f5" /><Relationship Type="http://schemas.openxmlformats.org/officeDocument/2006/relationships/notesSlide" Target="/ppt/notesSlides/notesSlide10.xml" Id="Rbc4e2186e1c749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c6a1493f144c8" /><Relationship Type="http://schemas.openxmlformats.org/officeDocument/2006/relationships/notesSlide" Target="/ppt/notesSlides/notesSlide11.xml" Id="R35e4c474769f47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3edde3ee54720" /><Relationship Type="http://schemas.openxmlformats.org/officeDocument/2006/relationships/notesSlide" Target="/ppt/notesSlides/notesSlide12.xml" Id="R71a7da1569f544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41b87a5574516" /><Relationship Type="http://schemas.openxmlformats.org/officeDocument/2006/relationships/notesSlide" Target="/ppt/notesSlides/notesSlide13.xml" Id="R277fe9d9b2a545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b1e4a9df44072" /><Relationship Type="http://schemas.openxmlformats.org/officeDocument/2006/relationships/notesSlide" Target="/ppt/notesSlides/notesSlide14.xml" Id="R7c503418a53a41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306922a84eef" /><Relationship Type="http://schemas.openxmlformats.org/officeDocument/2006/relationships/image" Target="/ppt/media/image3.png" Id="Rb76310a4620d4e96" /><Relationship Type="http://schemas.openxmlformats.org/officeDocument/2006/relationships/notesSlide" Target="/ppt/notesSlides/notesSlide15.xml" Id="R9ca5699d60ea44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a6116e14146cf" /><Relationship Type="http://schemas.openxmlformats.org/officeDocument/2006/relationships/notesSlide" Target="/ppt/notesSlides/notesSlide16.xml" Id="Rc7fc62b1d0dc4d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4ea318ac145df" /><Relationship Type="http://schemas.openxmlformats.org/officeDocument/2006/relationships/notesSlide" Target="/ppt/notesSlides/notesSlide17.xml" Id="Reb622f30d4624a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85986bf594504" /><Relationship Type="http://schemas.openxmlformats.org/officeDocument/2006/relationships/notesSlide" Target="/ppt/notesSlides/notesSlide18.xml" Id="R43f229943a9a41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f529ae2a34485" /><Relationship Type="http://schemas.openxmlformats.org/officeDocument/2006/relationships/notesSlide" Target="/ppt/notesSlides/notesSlide19.xml" Id="R8052da63e32d4e1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b9df239f4929" /><Relationship Type="http://schemas.openxmlformats.org/officeDocument/2006/relationships/notesSlide" Target="/ppt/notesSlides/notesSlide20.xml" Id="Rd34cb8c0a4bc4c5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297e12a334aa0" /><Relationship Type="http://schemas.openxmlformats.org/officeDocument/2006/relationships/notesSlide" Target="/ppt/notesSlides/notesSlide21.xml" Id="Rc1fad5ac3c9847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30f0cf03d429b" /><Relationship Type="http://schemas.openxmlformats.org/officeDocument/2006/relationships/notesSlide" Target="/ppt/notesSlides/notesSlide22.xml" Id="R065fae11019149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1de850aae4ce1" /><Relationship Type="http://schemas.openxmlformats.org/officeDocument/2006/relationships/notesSlide" Target="/ppt/notesSlides/notesSlide23.xml" Id="R4f043877a16943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e655caeea43ff" /><Relationship Type="http://schemas.openxmlformats.org/officeDocument/2006/relationships/notesSlide" Target="/ppt/notesSlides/notesSlide24.xml" Id="Re5037d58995d430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b85ed348c4aa4" /><Relationship Type="http://schemas.openxmlformats.org/officeDocument/2006/relationships/notesSlide" Target="/ppt/notesSlides/notesSlide25.xml" Id="Rad94cc7f19f94e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6f772be8e4ce4" /><Relationship Type="http://schemas.openxmlformats.org/officeDocument/2006/relationships/notesSlide" Target="/ppt/notesSlides/notesSlide26.xml" Id="Red617e23b15746d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a523c7394073" /><Relationship Type="http://schemas.openxmlformats.org/officeDocument/2006/relationships/notesSlide" Target="/ppt/notesSlides/notesSlide27.xml" Id="R3a337e98a2b54c0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42e7aa4f2456f" /><Relationship Type="http://schemas.openxmlformats.org/officeDocument/2006/relationships/notesSlide" Target="/ppt/notesSlides/notesSlide28.xml" Id="Rca5fd35350554f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4d2b3dd19467e" /><Relationship Type="http://schemas.openxmlformats.org/officeDocument/2006/relationships/notesSlide" Target="/ppt/notesSlides/notesSlide29.xml" Id="R1dee636674614c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6066cc658470a" /><Relationship Type="http://schemas.openxmlformats.org/officeDocument/2006/relationships/notesSlide" Target="/ppt/notesSlides/notesSlide30.xml" Id="R151ec23bcd444a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a91b4e20b45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FF7D1-C100-480B-8454-A4850C69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18CA0-9931-4614-B7A9-A792786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AI  /  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DBC1D-3932-4771-A74D-C1647DE7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762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Od danych</a:t>
            </a:r>
          </a:p>
          <a:p xmlns:a="http://schemas.openxmlformats.org/drawingml/2006/main">
            <a:pPr algn="l">
              <a:defRPr sz="42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42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do modelu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BA29C-FBC3-40CB-909D-15F9F401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Blok I: wprowadzenie do AI i ML</a:t>
            </a:r>
          </a:p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Blok II: NumPy, pandas i scikit-learn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020AC-AF46-4751-95B9-16084BB0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30 SLAJDÓW  ·  WERSJA SZKOLENIOWA</a:t>
            </a:r>
          </a:p>
        </p:txBody>
      </p:sp>
    </p:spTree>
    <p:extLst>
      <p:ext uri="{BB962C8B-B14F-4D97-AF65-F5344CB8AC3E}">
        <p14:creationId xmlns:p14="http://schemas.microsoft.com/office/powerpoint/2010/main" val="1279969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E18D0-3D14-46A9-A9A7-E546EBF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PLAN ZAJĘĆ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17E72-3F9C-4D0F-967A-F696222E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Dokąd prowadzą dwa pierwsze bloki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89152-1A4B-4453-AC93-E3667FD2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9C0F7-2EEA-46B7-8126-FBBA38C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4527B-DDC6-4EAE-B0EE-4D51177D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5238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39266-3572-4418-A382-A36C1C61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A64B0-E334-4204-9883-2B40AC7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28850"/>
            <a:ext cx="474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BLOK I  ·  Zrozumieć 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4D92C-DA64-4C57-BDBB-42C2BF3C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52725"/>
            <a:ext cx="47434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Pytanie, dane, cechy, etykieta, podział zbioru, trening i ocena. Matematyka na poziomie intuicji.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E4C4B-8DE5-41DD-BAE5-D9DBC6F5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2387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F2559-A0A3-492A-8AEB-C194338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18C5E-0206-4D0F-BC81-3406EDC6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474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BLOK II  ·  Pracować z danymi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4153F-2755-4B23-A93D-2D7B209C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52725"/>
            <a:ext cx="47434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Jupyter, NumPy, pandas, wizualizacja i wspólny interfejs scikit-learn. Od tabeli do powtarzalnego eksperymentu.</a:t>
            </a:r>
          </a:p>
        </p:txBody>
      </p:sp>
    </p:spTree>
    <p:extLst>
      <p:ext uri="{BB962C8B-B14F-4D97-AF65-F5344CB8AC3E}">
        <p14:creationId xmlns:p14="http://schemas.microsoft.com/office/powerpoint/2010/main" val="289720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f769eea4423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94D79-7B9A-44D9-80C4-CBA1FB78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98485-96A9-4C39-9F33-65EB81A7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C8E54-CED3-4A5E-AC73-1CB8D0C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Wprowadzenie</a:t>
            </a:r>
          </a:p>
          <a:p xmlns:a="http://schemas.openxmlformats.org/drawingml/2006/main">
            <a:pPr algn="l">
              <a:def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do AI i 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864A8-717F-4F9B-885A-EA6476FE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Od dobrego pytania do modelu, który można uczciwie ocenić.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FBB94-313A-4D6A-A02A-84BBDC8E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5811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BD860-2762-49F0-A39F-8A628935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D782F-4B9F-4B7C-903F-18896EF5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AI, ML i DL: trzy poziomy pojęć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23A3C-782D-4AAC-8096-419A6FBE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CC327-C743-4010-92D4-91F23D4B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B7847-CFF4-46A6-90FB-F4FB4944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7A39F-D14B-4B05-87B7-A725C386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FADDA-2B32-4569-94AA-E1F4F8DB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65264-4689-425E-8C03-DAB1EEF2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2892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Systemy wykonujące zadania wymagające interpretacji, wnioskowania lub podejmowania decyzji.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82B2-C776-41CF-A6E9-D45483C2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4BFBF-740E-4792-B273-29A77D2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764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14C7F-EA29-473C-98CD-7CC2184F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050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5DAFA-D971-47A2-B63A-C711293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2892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Modele uczą zależności na podstawie danych zamiast otrzymać każdą regułę ręcznie.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B3C76-5F48-4E66-B46B-38264D7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F61AE-40EE-4287-BB41-2FE3B368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87B95-80EF-4039-BE72-CF7F9DC9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8345B-E344-45BD-8D83-DA3D6C5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2892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Wielowarstwowe sieci neuronowe uczą się reprezentacji danych.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AD6E0-FB19-4E01-9893-1B744EC3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DL jest częścią ML, a ML jest częścią AI</a:t>
            </a:r>
          </a:p>
        </p:txBody>
      </p:sp>
    </p:spTree>
    <p:extLst>
      <p:ext uri="{BB962C8B-B14F-4D97-AF65-F5344CB8AC3E}">
        <p14:creationId xmlns:p14="http://schemas.microsoft.com/office/powerpoint/2010/main" val="222788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B97D59-9DEE-4FFD-B53D-3503DC4F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AB085-6FD7-4673-89CA-18F2A75B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Jakie zadanie stawiamy modelowi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574E7-DD8F-44D1-83CD-5A262D2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BE9C1-77B2-4BD4-A97F-FFEE63A5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1A5E5-26A7-420F-BF80-54A8F8C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744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0E84B-A8D3-41F4-B84C-CCA9D3C2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REGRESJA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0B012-12B2-4408-979C-81FF4B19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71700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liczba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69F1C-654D-45DC-9B25-0DCF210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6217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Ile energii zużyje budynek?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10595-3841-441C-9FA4-9423E5E8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0744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71AA9-53B8-4A73-94B7-87F80370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KLASYFIKACJA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AC7CD-A775-40C5-9B5C-02EDE987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71825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kategoria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56F52-84E2-4E4F-90B6-3CCA42E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623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Czy klient odejdzie?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C41B4-2FDD-404E-9916-1C8AF4B8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0744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17B20-CD5D-4745-9759-4B4C512C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SEGMENTACJA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B3D1E-7927-4DF1-813B-93D6C748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71950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grupy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D9E34-C0E3-435D-8D57-F86C96AB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624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Które obiekty są do siebie podobne?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5A70E-1E52-4B9A-863C-02D365EC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744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544512-F9D4-4679-8350-02E45D77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ANOMALIA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A74CA-6AD3-43DA-8A42-16BE9AF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172075"/>
            <a:ext cx="1762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odchylenie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E53DB-D974-463C-8FE7-0B0E833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625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Który pomiar odstaje?</a:t>
            </a:r>
          </a:p>
        </p:txBody>
      </p:sp>
    </p:spTree>
    <p:extLst>
      <p:ext uri="{BB962C8B-B14F-4D97-AF65-F5344CB8AC3E}">
        <p14:creationId xmlns:p14="http://schemas.microsoft.com/office/powerpoint/2010/main" val="1885553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C63DB-8B6B-491F-8088-A4A0F8A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427CB-05DF-40B5-B4B9-2B44BEB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Trzy paradygmaty uczenia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3E6FF-1E92-433F-8B1D-AB04E01E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0D772-C181-4E8E-A417-4CC6629D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42172-208A-41B5-B09B-38B0609A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429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94BD3-690F-4B33-88A3-D6BBA979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EFAF2-9F6A-4334-9951-57C911F3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2410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Nadzorowane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1F58A-CA5A-498D-8A99-B83AAEF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47975"/>
            <a:ext cx="29337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Dane zawierają prawidłową odpowiedź. Model przewiduje etykietę lub liczbę dla nowego przypadku.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7F562-00DD-4790-9AB3-1E44372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0BBA5-B444-4CA7-9AF2-BC80C74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0A8F0-99BD-41E5-AE91-FBDFDF9E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Nienadzorowane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B8049-DB51-4D2F-977D-40E428C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47975"/>
            <a:ext cx="29337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Brak docelowej etykiety. Szukamy grup, zależności lub nietypowych obserwacji.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B3C7B-9662-4930-A8D3-84036B72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4290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D1C3B-24D8-4295-9F74-153E535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ED281-9EE4-439A-8BB6-A721936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32410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Ze wzmocnieniem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AC4F5-D00C-402B-9E71-4C1C396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47975"/>
            <a:ext cx="29337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Agent podejmuje działania i uczy się na podstawie nagród oraz konsekwencji.</a:t>
            </a:r>
          </a:p>
        </p:txBody>
      </p:sp>
    </p:spTree>
    <p:extLst>
      <p:ext uri="{BB962C8B-B14F-4D97-AF65-F5344CB8AC3E}">
        <p14:creationId xmlns:p14="http://schemas.microsoft.com/office/powerpoint/2010/main" val="288436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404C2-5B63-41FA-A657-683668D2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227EC-B621-4B88-89C1-8E9A6E7F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Uczenie samonadzorowane w praktyce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053AB-B4F0-47F5-9BB3-5294F422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E6623-AA22-4882-99EC-3376E3E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E1661-8508-4517-A104-D19754A5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Dane tworzą zadanie treningowe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E635B-11BB-4A7F-8E3C-644CE926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8577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959D6-7556-4A67-9E6B-3CA8D05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F6DBE-D3F2-4DEA-AAF1-C6F27B2B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36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Tekst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B650F-ED2E-47DD-9397-68B7892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4362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przewiduje brakujący lub kolejny fragment na podstawie pozostałego kontekstu.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0153D-AC17-4BD4-AB58-6139EB0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48577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2D1AB-DFA3-49CC-8E9C-B565735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571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8E95F-14DB-4D0C-9C69-8F8FF60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4362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Obraz i dźwięk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355E3-975C-420D-9A53-9CFDA7B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05225"/>
            <a:ext cx="43624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uczy się reprezentacji z relacji między fragmentami danych.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1973C-5297-4808-A913-37B5BBE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Potem można dostroić model do konkretnego celu</a:t>
            </a:r>
          </a:p>
        </p:txBody>
      </p:sp>
    </p:spTree>
    <p:extLst>
      <p:ext uri="{BB962C8B-B14F-4D97-AF65-F5344CB8AC3E}">
        <p14:creationId xmlns:p14="http://schemas.microsoft.com/office/powerpoint/2010/main" val="1826812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2D7E6-08E7-40D0-89F8-B72669BC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817A-07CF-4EA3-A627-99B0D901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Cykl pracy nad modelem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7EEC0-F0BA-4A1F-9143-408BE58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837B5-37D2-4D56-BC56-3F518AF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73350-B35A-4135-BF70-78FA50F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1CB5F-8313-4A43-9263-C44FA4EE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1712A-E8C2-403A-9E43-CA260CDE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A2ED1-DAF7-4BAD-BD7B-E5F3A40D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480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BD981-3F6B-4655-8734-55034638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164F0-5C40-45B2-ACF5-E3079D1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42DDA-5A2F-4CE0-AD94-7DCB7A4D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2E283-675E-43DF-8D64-AAB9610F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19480-319C-44E4-891D-4412E0E5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2E446-1029-4C98-BE32-4422A91B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76EF3-6116-442E-9BFA-BD7E50AD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Podział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ED533-1118-4305-8A63-8F3108E8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7D4EB-E9F7-4E18-88E6-4CC729A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92307E-BFA2-4679-904C-C07DA30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DCB65-687B-4449-8347-2CA04A1C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Trening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34722-1C4D-4D33-9E08-4399981A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64A04-B9AE-48DF-8E3D-900E46C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1F947-88FB-414B-B2EE-E9055A9C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802E4E-DBDE-464B-A164-F16F9470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Ocena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5ED08-A8B3-43AC-A920-EF3FE8DA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4800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BD223-60D4-486C-A8CA-E19A29F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43150"/>
            <a:ext cx="1714500" cy="2000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A360D-A003-4DED-9D3A-973566A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14600"/>
            <a:ext cx="1285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C43EF-C2A2-4977-A977-67ACDC16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95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Wdrożenie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48AA1-86AE-4BFA-99BF-BE94831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86350"/>
            <a:ext cx="1042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 wdrożeniu monitorujemy jakość i zmiany danych</a:t>
            </a:r>
          </a:p>
        </p:txBody>
      </p:sp>
    </p:spTree>
    <p:extLst>
      <p:ext uri="{BB962C8B-B14F-4D97-AF65-F5344CB8AC3E}">
        <p14:creationId xmlns:p14="http://schemas.microsoft.com/office/powerpoint/2010/main" val="15189069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A1DB6-F6FC-4764-81C3-EEC6B2E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314FF-B2B2-403C-8B13-97ADC5C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Problem biznesowy staje się pytaniem 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04817-0F19-43A1-9991-089CB29C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46A77-A1F9-4015-AA5A-3E89539C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8A28D-B5A7-416F-AC6F-260C9CED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8B1D5-0562-4111-A39B-AFE716FB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55757-B1EF-466B-9F15-89F8F449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2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Pytanie organizacji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CD9F3-7B7B-4EA6-B5BF-68EF7762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05125"/>
            <a:ext cx="4457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„Jak ograniczyć zużycie energii w budynkach?”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042C6-8386-40F2-88D1-0333DB9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DB5D0-008F-4565-84D4-2E087CDE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526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75CF3-6F72-429A-9BED-EC90945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Pytanie do modelu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EEA5F-109A-40BF-81CC-CCDF2AB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05125"/>
            <a:ext cx="4457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„Ile kWh zużyje budynek w następnym miesiącu?”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323DC-B7AE-4CF6-8D00-F6A4D33A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959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Jednostka predykcji: budynek × miesiąc</a:t>
            </a:r>
          </a:p>
        </p:txBody>
      </p:sp>
    </p:spTree>
    <p:extLst>
      <p:ext uri="{BB962C8B-B14F-4D97-AF65-F5344CB8AC3E}">
        <p14:creationId xmlns:p14="http://schemas.microsoft.com/office/powerpoint/2010/main" val="1767698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D48CB-85C3-4654-AAA5-C276D415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FF13A-97A0-4CAA-8007-3820D995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Trening, walidacja i test mają różne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B36FF-EBC4-44DF-A76C-D86C94C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F2E9B-6441-4B38-8A36-F5F5C81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5B6A0-DFEB-4B42-8398-BE66EBEF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70%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59F46-1722-49E5-9841-471A85F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Uczenie parametrów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BA10F-A52E-46C8-9457-A8C231B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0A695-41B3-465B-ABCE-E821E0B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Wybór wariantu i strojenie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647CE-6E09-496C-8794-B2DF6B62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76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FF7584"/>
                </a:solidFill>
                <a:latin typeface="DejaVu Sans"/>
                <a:ea typeface="DejaVu Sans"/>
                <a:cs typeface="DejaVu Sans"/>
              </a:rPr>
              <a:t>15%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1FA5A-4FC5-4AE8-B206-DFD5643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Jednorazowa ocena końcowa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76E65-274B-4578-A1A4-75ABD16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Proporcje są przykładowe. Dla danych czasowych zachowujemy kolejność czasu.</a:t>
            </a:r>
          </a:p>
        </p:txBody>
      </p:sp>
    </p:spTree>
    <p:extLst>
      <p:ext uri="{BB962C8B-B14F-4D97-AF65-F5344CB8AC3E}">
        <p14:creationId xmlns:p14="http://schemas.microsoft.com/office/powerpoint/2010/main" val="133906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15BAF-21FB-446C-A8ED-14577980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FB23-9FB7-4865-B115-FC48975E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Model może nauczyć się danych na pamięć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1432C-D12F-4714-BEB8-4B32200F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9582-933F-4D62-B767-1005293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0C7D6-7D24-47E8-B020-7272CC3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000625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920DE-712B-4AE5-9428-36ACF4AE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FB31D-840C-4EA3-9475-030DA20B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76500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Niedouczenie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8E80E-A9CB-4E90-B59C-6D54CA7D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450532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jest zbyt prosty. Myli się na zbiorze treningowym i na nowych danych.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8D24B-51E8-43CB-92AA-FAAA2B0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000625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0793B-C067-4F70-8649-5E7DC307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96814-0EEE-4744-B881-B6E3937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Przeuczenie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92DB5-FD03-437C-8B03-8D5370E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0375"/>
            <a:ext cx="450532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Wynik treningowy wygląda świetnie, ale jakość na nowych przykładach spada.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AE4BC-D313-4B73-9BF7-9EE47E08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Sprawdzamy wynik na danych niewidzianych podczas treningu</a:t>
            </a:r>
          </a:p>
        </p:txBody>
      </p:sp>
    </p:spTree>
    <p:extLst>
      <p:ext uri="{BB962C8B-B14F-4D97-AF65-F5344CB8AC3E}">
        <p14:creationId xmlns:p14="http://schemas.microsoft.com/office/powerpoint/2010/main" val="227381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60A09-686B-4BB9-8F86-7B15B6B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A0270-9366-4398-9EE9-5CFD653C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Matematyka ML: trzy intuicje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B0B44-61CC-4B47-A79D-7413AA3C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EC57B-4388-4046-8EEE-4BC6D1ED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D5C7-7AC4-47CF-81A5-D67FE7B9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42900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1999-5D4C-4BD4-B1EC-38ED1799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09374-41A9-4C99-8EE5-8E5B27F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Wektor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BD66-3224-4500-90A8-2769274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9337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Jeden obiekt jako zestaw cech, np. metraż, wiek budynku i temperatura.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17C1A-7851-47A3-9FCE-D217872B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342900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F29D8-56FD-4AF0-A095-DE7A552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6CB96-B0F5-4332-BEE0-E50F7904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Macierz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E961B-7B36-425A-98E1-D1B5999E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43225"/>
            <a:ext cx="29337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Wiersze to obiekty, kolumny to cechy. Tak model widzi zbiór danych.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505AB-08EB-4B2E-AB76-F295AE5C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42900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50B24-BB66-4F45-ADD7-957B6FAA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571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AAF3A-733A-4FF1-A9CF-69CA804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Prawdopodobieństwo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2952A-DD32-4AE5-8223-ED6F285A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43225"/>
            <a:ext cx="29337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Opisuje niepewność i pozwala interpretować wyniki klasyfikacji.</a:t>
            </a:r>
          </a:p>
        </p:txBody>
      </p:sp>
    </p:spTree>
    <p:extLst>
      <p:ext uri="{BB962C8B-B14F-4D97-AF65-F5344CB8AC3E}">
        <p14:creationId xmlns:p14="http://schemas.microsoft.com/office/powerpoint/2010/main" val="18490856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256B1-59E4-4ABE-A7EB-9D96DF39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1E338-5856-4EB4-A11C-B5897D2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Funkcja straty i gradient sterują uczeniem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A8CE0-F311-4506-A18B-E0A570E7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80567-C3F6-44DA-8570-29ACB77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36F1-631B-49EA-A501-590416D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95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Przewidywanie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20030-9EB3-43D9-B544-85605289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955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Błąd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6D53-2A78-4D29-8D8E-8FA10D6D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95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Korekta wag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478DA-1531-44F8-83F4-7D1CE194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479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C7A59-BC38-4FDB-83F7-AF0B7EC4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0851E-EA17-40C2-AEBC-8BBF6771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7442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F970F-F54D-4C98-8970-487AE81D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Strata mierzy błąd. Gradient pokazuje kierunek zmiany parametrów.</a:t>
            </a:r>
          </a:p>
          <a:p xmlns:a="http://schemas.openxmlformats.org/drawingml/2006/main">
            <a:pPr algn="l">
              <a:defRPr sz="180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Optymalizator aktualizuje wagi małymi krokami.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199BF-B707-465A-B953-5409C03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530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Cel: zmniejszać stratę na treningu i zachować dobrą jakość poza treningiem</a:t>
            </a:r>
          </a:p>
        </p:txBody>
      </p:sp>
    </p:spTree>
    <p:extLst>
      <p:ext uri="{BB962C8B-B14F-4D97-AF65-F5344CB8AC3E}">
        <p14:creationId xmlns:p14="http://schemas.microsoft.com/office/powerpoint/2010/main" val="2031167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04227-2751-481B-BBAF-F90DC31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1DA4D-4713-4342-9AC1-99E038BF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Jupyter: mały eksperyment od początku do końca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7FF4B-BE2F-4EC4-A43B-37228EE4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F5A1-0641-4FAA-843B-166C3BED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EEC0-8DEB-41FF-BBDE-05432CA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3448050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45FAA-8D5A-47E6-99AD-012137CC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import pandas as pd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DFD69-B6CB-4DD6-8E28-4CD2EAA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from sklearn.model_selection import train_test_split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35E25-06EC-474C-A73C-320EDFB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from sklearn.linear_model import LinearRegression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72F15-239C-48C1-9DC5-100018D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from sklearn.metrics import mean_absolute_error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095D2-44A4-4E4A-A549-65F7BCC6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X_train, X_test, y_train, y_test = train_test_split(...)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FEFA1-822D-4A27-999E-A268B61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model = LinearRegression().fit(X_train, y_train)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140A8-05E4-4A50-95B9-B8B0D5C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Notebook łączy kod, wyniki, wykresy i wyjaśnienia w Markdown</a:t>
            </a:r>
          </a:p>
        </p:txBody>
      </p:sp>
    </p:spTree>
    <p:extLst>
      <p:ext uri="{BB962C8B-B14F-4D97-AF65-F5344CB8AC3E}">
        <p14:creationId xmlns:p14="http://schemas.microsoft.com/office/powerpoint/2010/main" val="1897158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310a4620d4e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7A5C0-831A-4294-93F6-208F862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63646-AAC6-43D3-8A0A-AFAEA8AE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15DB0-F6A6-4963-99D1-6FFDB149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4619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Biblioteki</a:t>
            </a:r>
          </a:p>
          <a:p xmlns:a="http://schemas.openxmlformats.org/drawingml/2006/main">
            <a:pPr algn="l">
              <a:def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i dane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A801A-B418-4CC4-8407-AD0A0DF2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NumPy, pandas, wykresy i wspólna logika scikit-learn.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C7F8-019B-4AAB-A2E3-44AA3025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87055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920DC-96B9-4FEA-9023-EB2BF805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2766D-CC84-4E9F-BB3F-D891D7E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Każda biblioteka ma własną rolę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25086-EEB4-4937-BAE3-6DE0FBA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18FBF-D0AE-4F83-BD05-B4FE561B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BFEE6-9716-43B6-9039-37C6CF0F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32575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79170-1EC7-4E82-A1DD-7D458325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9982E-33F0-40B5-9D60-BA7448B2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NumPy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4E9AB-0979-4F9A-BADD-0A4A9292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19812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Szybkie tablice i obliczenia wektorowe.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3325C-26A1-4B82-ADBC-AF5E7ACC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76500" cy="32575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0A0BB-7923-40A2-8D27-A4B3D78E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88D86-499A-461E-927C-813D2F2B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pandas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C372-130A-428B-BE3D-ED0015E9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47975"/>
            <a:ext cx="19812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Tabele, import, czyszczenie i agregacje.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F1327-0F41-4344-BEF4-AF1B6BD9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476500" cy="32575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12BD7A-A387-424C-B07B-67ADE366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95BA7-27E7-4D0C-97DF-246FF0A3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Matplotlib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D6EE0-4AAE-4D12-A00F-A2E7FB8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47975"/>
            <a:ext cx="19812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Wykresy do rozpoznania rozkładów i zależności.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108B02-F69B-4FE8-955F-98FF7FC3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476500" cy="32575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2D040-D137-4B51-9C22-BE821AD7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FB018-FB26-43F9-B2EB-D0445C0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scikit-learn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DF23D-35B1-46D1-9117-D9B2C34A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47975"/>
            <a:ext cx="19812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Transformacje, modele, metryki i pipeline.</a:t>
            </a:r>
          </a:p>
        </p:txBody>
      </p:sp>
    </p:spTree>
    <p:extLst>
      <p:ext uri="{BB962C8B-B14F-4D97-AF65-F5344CB8AC3E}">
        <p14:creationId xmlns:p14="http://schemas.microsoft.com/office/powerpoint/2010/main" val="9644225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2304E-D080-4193-866D-002B5AF1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E8818-B5C2-4071-98D7-B951DC47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NumPy: tablica ma kształt i typ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65CD3-4A0D-4ACD-9F9E-C477284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F1CE5-E5C5-4117-B2A0-0E66ADBA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BF430-25A0-4FAF-84F1-02F27C21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59E74-CD19-40D7-BC48-54125C4E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import numpy as np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0C59E-1BB0-492B-8FC2-E62066E2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X = np.array([[40, 2008], [65, 2015], [82, 1999]])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4CFCE-2E0D-4E88-94EA-32D807A0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X.shape          # (3, 2)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FF3C2-4005-48D1-B83A-C1F8C216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X.dtype          # typ elementów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0D036-A52C-4987-AF67-4089AA2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X[:, 0]          # pierwsza kolumna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AB728-AC3F-4F83-947A-E6D7F70C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3 obserwacje  ×  2 cechy</a:t>
            </a:r>
          </a:p>
        </p:txBody>
      </p:sp>
    </p:spTree>
    <p:extLst>
      <p:ext uri="{BB962C8B-B14F-4D97-AF65-F5344CB8AC3E}">
        <p14:creationId xmlns:p14="http://schemas.microsoft.com/office/powerpoint/2010/main" val="1762174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F3D59-8452-43AC-AEA7-E5CFBEC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1EE0F-58D8-4691-874F-A1E6D70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Indeksowanie: wybieramy wiersze i kolumny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F202C-1731-4B6A-9219-16C336D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276F9-970C-4B22-B252-EACCDD6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FCF6-F3C5-4260-9569-BC69E65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5000625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3E4D5-3F72-4A35-9EAC-077D3918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D8A9E-79E4-4512-A6B0-7E904E25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X[0]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C78C-9B9E-4E09-8C44-482CEA30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14650"/>
            <a:ext cx="450532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Cały pierwszy wiersz, czyli pierwsza obserwacja.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DA93A-9F2C-4D84-AD23-225A4DC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62175"/>
            <a:ext cx="5000625" cy="300037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30631-3274-4702-A322-9413ABC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62175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63FB8-D8AD-45EC-8D11-EDE4138B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505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X[:, 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18270-58DE-4726-9648-A2CBBE1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450532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Druga kolumna dla wszystkich obserwacji.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FB31C-6B00-4E5D-B05C-3D4E6F2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Python liczy indeksy od zera</a:t>
            </a:r>
          </a:p>
        </p:txBody>
      </p:sp>
    </p:spTree>
    <p:extLst>
      <p:ext uri="{BB962C8B-B14F-4D97-AF65-F5344CB8AC3E}">
        <p14:creationId xmlns:p14="http://schemas.microsoft.com/office/powerpoint/2010/main" val="1212901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8D219-4C03-4CFE-AF73-B0DE3AB9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F922B-415B-4A94-A197-DECBD59B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Wektoryzacja zastępuje wiele pętli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388A5-D61E-4638-AFCC-6C3F1EE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ADAE3-268A-4981-B3BB-FA12BA2B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A972E-17D4-4E29-A764-0512939D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507FE-8EA5-4770-87FD-A3F8C371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FE602-72CA-49ED-A7EC-C7488613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Pętla po elementach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22D8D-35D0-4819-81A8-682D8A04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67025"/>
            <a:ext cx="4457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for x in values:</a:t>
            </a:r>
          </a:p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    result.append(x * 1.23)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6A778-03E3-4B7B-93DF-7813A4B0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14550"/>
            <a:ext cx="4953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290CC-C5D1-42F5-A969-5E52E424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145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7ABC2-640C-49D8-8F11-6EC89C57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Operacja NumPy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79696-0B65-474D-957D-C014E2FE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67025"/>
            <a:ext cx="44577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result = values * 1.23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65E23-3795-427F-843B-CEAF0402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Jedna operacja na tablicy jest czytelniejsza i zwykle szybsza</a:t>
            </a:r>
          </a:p>
        </p:txBody>
      </p:sp>
    </p:spTree>
    <p:extLst>
      <p:ext uri="{BB962C8B-B14F-4D97-AF65-F5344CB8AC3E}">
        <p14:creationId xmlns:p14="http://schemas.microsoft.com/office/powerpoint/2010/main" val="10619180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88537-47A3-4ABE-8D3B-5F53668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EECA7-2E32-447D-A076-975AD0AB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Broadcasting: skalar działa na całą tablicę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AC594-C757-452B-964A-05A35008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00C59-E1A7-416F-B9B8-CA1AEA86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EBF98-D0DE-4C0D-A368-437293D4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4DA17-17E1-4281-9313-67DA8D2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areas = np.array([40, 65, 82])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42A18-2A9A-4758-BAE9-E06B8EA7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rate = 4.5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84683-F896-49D6-9CD2-B8B1F08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estimate = areas *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7A5F6-7932-4DCE-AFC5-C7ACEB1A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718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print(estimate)  # [180.0, 292.5, 369.0]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36211-BDEE-4146-9606-29118A2F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Kształty tablic muszą spełnić reguły dopasowania NumPy</a:t>
            </a:r>
          </a:p>
        </p:txBody>
      </p:sp>
    </p:spTree>
    <p:extLst>
      <p:ext uri="{BB962C8B-B14F-4D97-AF65-F5344CB8AC3E}">
        <p14:creationId xmlns:p14="http://schemas.microsoft.com/office/powerpoint/2010/main" val="1954476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304E7-5674-4DF1-8778-32FA8D0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489D6-E74D-4E85-B429-FBE12877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Liczby losowe i statystyka opisowa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F2DB9-1B1C-4815-AFCF-7442BC7B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FE4E2-7271-4808-9E85-13F1E40E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E7314-365B-419B-A8F1-670C2CDD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C516A-2B91-4BCE-910A-36ACB9A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rng = np.random.default_rng(42)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DD806-4D49-445E-B69C-875BF6BB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sample = rng.normal(loc=100, scale=15, size=1000)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97551-1179-4C17-861A-4095C701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np.mean(sample)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61850-0CF7-4D17-8FCF-19521A7C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np.std(sample)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AE137-F92D-4E2C-B5DB-EE184AED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84600-D296-487E-B0BA-A422FE36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C196D-0BF8-4E08-BCBD-8442BA3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5307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 co ziarno 42?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D5473-FFF4-4EC7-AFD5-8FDBAE7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53075"/>
            <a:ext cx="700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Ten sam eksperyment losowy można odtworzyć.</a:t>
            </a:r>
          </a:p>
        </p:txBody>
      </p:sp>
    </p:spTree>
    <p:extLst>
      <p:ext uri="{BB962C8B-B14F-4D97-AF65-F5344CB8AC3E}">
        <p14:creationId xmlns:p14="http://schemas.microsoft.com/office/powerpoint/2010/main" val="3634503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C2E81-0F58-46B0-8F05-E18FE9E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880AF-878C-4DEA-BAEB-244AB819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pandas: DataFrame jest tabelą z etykietami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62FD4-07BD-40A2-A3F0-3115BF4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23D67-EB73-46F8-82E0-F2EFA888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A8DDA-EF89-4120-A842-6BD8D59B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668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1736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588E-000F-46DE-A035-6F283459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budynek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B944A-F8FB-44A1-B006-DB26CB8F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050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metraż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FCB0A-FEF8-4830-A613-62E90FC0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rok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BAB32-ACFF-45AA-B30D-D4272FB8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050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kWh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B1F21-05E0-450D-A8AC-2AF6E2A0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0668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B31E4-E961-4939-95ED-8B75706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145E0-33EE-4F62-9452-6C82C1A7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F6BD8-C039-48A9-B903-1C8F9E2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242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2008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35A2E-11D9-4BC4-8458-53693535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49D0E-0BC5-487D-86E2-9D482A3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668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4759D-DE9E-4028-AD75-158E90D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55D7C-1AA4-4824-A874-56586C0C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F61FA-5738-40BD-AF42-03A9CD54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2015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115F6-C1ED-4B6A-985D-B83C6EDB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433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293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D185C-BA56-4911-B1D9-7B4DA714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0668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BF65C-1820-49C8-B4B5-BD31720C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A666C-8EB3-47BA-9B63-19FF9D31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82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EE8F4-64B4-427F-B4F7-43AF9B8E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2333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1999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95EA3-E0B3-461E-89F7-3794FF43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369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D3EE4-57E2-4EE9-985C-6D093A28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292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Series = jedna kolumna z indeksem     DataFrame = zbiór kolumn</a:t>
            </a:r>
          </a:p>
        </p:txBody>
      </p:sp>
    </p:spTree>
    <p:extLst>
      <p:ext uri="{BB962C8B-B14F-4D97-AF65-F5344CB8AC3E}">
        <p14:creationId xmlns:p14="http://schemas.microsoft.com/office/powerpoint/2010/main" val="146107402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1E987-6885-4984-A86F-7205605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CC395-A506-4DA8-AAF5-A6EE52CF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Wczytanie danych i pierwsze rozpoznanie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7AC2-C516-454F-8897-E2B513B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9500-4DC1-45BF-A8DE-A26F1FCE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52C3B-0C34-4798-B06A-5870EE87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39C3B-FFAD-47B2-AB4D-F6E3932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df = pd.read_csv("budynki.csv")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2640B-2880-4CA5-8FEC-4323EDFB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df.head()       # kilka pierwszych rekordów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FF1EE-04CE-419F-8919-6F7CC749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df.info()       # kolumny, typy, braki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A4A8B-6842-42E0-B52B-334B0A1D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df.describe()   # opis liczb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9ECAA-CBF0-4CFA-918B-5257E649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df.to_csv("wynik.csv", index=False)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DEED4-707B-4879-A9C1-155851E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578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CSV, Excel i JSON to formaty wejścia. Typy danych sprawdzamy od razu.</a:t>
            </a:r>
          </a:p>
        </p:txBody>
      </p:sp>
    </p:spTree>
    <p:extLst>
      <p:ext uri="{BB962C8B-B14F-4D97-AF65-F5344CB8AC3E}">
        <p14:creationId xmlns:p14="http://schemas.microsoft.com/office/powerpoint/2010/main" val="12076439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E9851-BA77-4FD8-B20A-6F5993B9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5702-7D64-4ABA-9783-482B7F92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Jakość danych zmienia wynik modelu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70F73-D1D2-46DD-A7A0-AF8A4D85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A8D54-B3C7-4BDD-86E4-3B3CB1F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DE50F-BC1E-4937-85B8-1577D6F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3147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0C69-18B3-4525-8CC8-CA0F9A7A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20CAF-F372-4DFA-981F-019156D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241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Braki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3CC20-BC79-43D9-9944-E4A135FD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47975"/>
            <a:ext cx="28194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Sprawdź przyczynę. Uzupełnij, oznacz lub usuń według sensu problemu.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3BD74-D1CF-49E9-9ABA-7962B979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147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D5D69-57D1-4FEE-B56C-6D855CA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2AB4F-9A27-4C67-88D4-8EF412E9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Duplikaty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4D599-2753-4297-A37B-E3FA3DDA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28194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Ustal, czy powtarzają się rekordy, czy prawdziwe zdarzenia.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68F25-F98D-46EC-9B69-F4E6EF3F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95500"/>
            <a:ext cx="33147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7B0B0-3388-469C-9D49-34B68CA4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9550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90408-9C51-4F83-AAFE-5DD1C05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24100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Typy i zakresy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D4199-3140-467C-8FE2-C9DA2236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47975"/>
            <a:ext cx="28194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Data jako data, liczba jako liczba; wychwyć niemożliwe wartości.</a:t>
            </a:r>
          </a:p>
        </p:txBody>
      </p:sp>
    </p:spTree>
    <p:extLst>
      <p:ext uri="{BB962C8B-B14F-4D97-AF65-F5344CB8AC3E}">
        <p14:creationId xmlns:p14="http://schemas.microsoft.com/office/powerpoint/2010/main" val="9978161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85AA4-1FB8-4836-801D-CA5C6D9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26084-B355-42B0-899F-B2DF8AE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Filtrowanie i nowe cechy z dostępnych danych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B38DE-0444-4366-BC8F-E1CD3B8A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5EFD-57E3-469C-BB4A-8278FF0F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9FE80-D75F-4B93-A2CD-91D98F52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AA6F3-CF50-4FC9-8E74-1EF5555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recent = df.loc[df["rok"] &gt;= 2010]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4D28E-6DF3-4A44-9DAA-B28D7F6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columns = df[["metraż", "rok", "kWh"]]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8F1BC-600E-4F7F-B10C-634A64DF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95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sorted_df = df.sort_values("kWh", ascending=False)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9210E-48A9-4351-A9F1-D7D8DC03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df["wiek_budynku"] = 2026 - df["rok"]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5C59A-288B-46EB-9840-1353480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Cechę tworzymy z danych dostępnych w chwili predykcji</a:t>
            </a:r>
          </a:p>
        </p:txBody>
      </p:sp>
    </p:spTree>
    <p:extLst>
      <p:ext uri="{BB962C8B-B14F-4D97-AF65-F5344CB8AC3E}">
        <p14:creationId xmlns:p14="http://schemas.microsoft.com/office/powerpoint/2010/main" val="7213623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2F708-C5FC-4561-891B-194D2C5F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C1817-F175-43DB-B7B7-19228B07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Grupowanie, łączenie i czas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AB156-8D04-426A-8D85-443FCEA0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941AD-0FA9-409B-A090-BAEC939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F3EE4-3178-4E54-A5D3-EADD5B0F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62325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78FB-E20D-4DF7-A987-9E1FA48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C5F51-DEAD-4012-8D01-72B2E0F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67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groupby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C646E-7FE5-468F-8229-4D37018A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28670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Średnie zużycie według typu budynku lub miejscowości.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ECCEE-B06C-49E7-9788-E9F0CDE3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62325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7E60F-C78B-47D9-9FB2-85075F66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9A5DA-C6C5-4137-A12A-55A4CA16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67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merge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F72DC-3B11-4BC6-BA6E-E39351AC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47975"/>
            <a:ext cx="28670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Dane pomiarowe można połączyć z tabelą metadanych po identyfikatorze.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56972-066B-402F-9C06-2A5F5079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362325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DD78F-EF11-4B45-9CA0-595DC2EA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F691D-38FB-4A41-9977-B3388E88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867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datetime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45830-3204-42D4-8E0B-F254B767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47975"/>
            <a:ext cx="28670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Miesiąc, sezon, opóźnienia i porządek zdarzeń.</a:t>
            </a:r>
          </a:p>
        </p:txBody>
      </p:sp>
    </p:spTree>
    <p:extLst>
      <p:ext uri="{BB962C8B-B14F-4D97-AF65-F5344CB8AC3E}">
        <p14:creationId xmlns:p14="http://schemas.microsoft.com/office/powerpoint/2010/main" val="18294289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07D4B-6A17-4C4A-98DF-361A7B2D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C64BE-D3A1-46CD-A0DB-8F0EE463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Wykres dobieramy do pytania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33F91-9BC3-443F-99F3-2BBF4FC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F6220-BB00-44F0-A523-0301632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55291-FAE6-4436-9A7C-EF37C88D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7442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5DA26-082B-465C-A617-C18A6617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Rozkład jednej zmiennej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0CA2C-8292-4CA5-9201-F7EA401A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Histogram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A5A16-4819-4CD9-ADE3-736F2FB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07442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B20A4-940A-4A25-9F3B-7363123C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Zależność dwóch liczb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EF6B0-F6DB-43A2-B303-D850C37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004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Wykres punktowy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5CFA8-49D0-410F-98FF-DED60E9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107442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A062E-1CF6-4ED2-A307-85E633F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Zmiana w czasie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E5FCD-F055-4EEE-A1D4-EE007A20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62425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Linia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452AA-6149-475D-A7D2-C7A06EA0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07442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A25D7-975E-49C0-A183-26E14038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Odstające obserwacje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FC1F2-569B-4886-BF53-44295BE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244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Boxplot</a:t>
            </a:r>
          </a:p>
        </p:txBody>
      </p:sp>
    </p:spTree>
    <p:extLst>
      <p:ext uri="{BB962C8B-B14F-4D97-AF65-F5344CB8AC3E}">
        <p14:creationId xmlns:p14="http://schemas.microsoft.com/office/powerpoint/2010/main" val="111733581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D70A7-0773-4056-9788-89F0688D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4D8D4-4695-4CDD-A2F8-DD970FA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scikit-learn ma spójny interfejs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D596C-753A-49BD-81E6-70C6BC12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166A-9301-4C86-B709-A490832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8D1B5-3C0E-4499-A216-02CFE69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34AA0-85D7-4400-A653-F4BBE07A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E2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8F360-94E5-4DBC-BC28-6498E5F3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fit(X,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7CA1-E75F-43C3-9BDA-CC53CB4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uczy się zależności lub transformator wyznacza parametry.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CD125-9910-43AF-B123-9C0C04EA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9F006-05A9-4D4E-B7C4-1741773C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66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B8555-BB30-49C4-9F8B-7FF2B5C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transform(X)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6B84-65C6-45A9-A0C1-B5B6F99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4797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Transformator przygotowuje dane, np. skaluje cechy.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DCDF8-3479-4A6A-A058-AF5E1243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333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600BD-8BE1-4505-9DFF-2EC583A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5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42CEE-930E-4718-B35A-86AF4021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838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predict(X)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FE4D6-6500-4FE2-A09B-BD57E7D7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47975"/>
            <a:ext cx="28384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Model oblicza wynik dla nowych przykładów.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A3DB7-2C60-499E-89F1-D3C4B519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02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Estimator  ·  Transformer  ·  Pipeline  ·  Metryka</a:t>
            </a:r>
          </a:p>
        </p:txBody>
      </p:sp>
    </p:spTree>
    <p:extLst>
      <p:ext uri="{BB962C8B-B14F-4D97-AF65-F5344CB8AC3E}">
        <p14:creationId xmlns:p14="http://schemas.microsoft.com/office/powerpoint/2010/main" val="11370480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BB05A-939B-4044-9B2A-8FFDC6B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CCDFF-36D2-4600-83A4-15AFD79D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Pipeline chroni eksperyment przed wyciekiem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36F21-C516-4115-90D2-904CFA19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84C5A-CE0A-4F02-BCB0-693E1ACE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4222E-C326-476B-BA88-F120119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3476625"/>
          </a:xfrm>
          <a:prstGeom xmlns:a="http://schemas.openxmlformats.org/drawingml/2006/main" prst="roundRect">
            <a:avLst>
              <a:gd name="adj" fmla="val 3836"/>
            </a:avLst>
          </a:prstGeom>
          <a:solidFill xmlns:a="http://schemas.openxmlformats.org/drawingml/2006/main">
            <a:srgbClr val="061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5C2C3-1970-4D59-AF2C-091A846A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from sklearn.pipeline import make_pipeline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607E3-5B47-4D92-8A07-E5E6DAC5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from sklearn.impute import SimpleImputer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F2B30-FEA6-4DDF-BAB4-8A5A5570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from sklearn.preprocessing import StandardScaler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FEFFA-D765-45D3-8B61-D5F30CB6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from sklearn.linear_model import 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44478-91E7-4CB2-92D8-0571E64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4DE2D1"/>
                </a:solidFill>
                <a:latin typeface="DejaVu Sans Mono"/>
                <a:ea typeface="DejaVu Sans Mono"/>
                <a:cs typeface="DejaVu Sans Mono"/>
              </a:rPr>
              <a:t>model = make_pipeline(SimpleImputer(), StandardScaler(), Ridge())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ED08B-93B4-45DC-96D4-0908BB2B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F5F9FC"/>
                </a:solidFill>
                <a:latin typeface="DejaVu Sans Mono"/>
                <a:ea typeface="DejaVu Sans Mono"/>
                <a:cs typeface="DejaVu Sans Mono"/>
              </a:rPr>
              <a:t>model.fit(X_train, y_train)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8A869-856E-468A-B5E8-6D2A45A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Parametry imputacji i skalowania powstają tylko z treningu</a:t>
            </a:r>
          </a:p>
        </p:txBody>
      </p:sp>
    </p:spTree>
    <p:extLst>
      <p:ext uri="{BB962C8B-B14F-4D97-AF65-F5344CB8AC3E}">
        <p14:creationId xmlns:p14="http://schemas.microsoft.com/office/powerpoint/2010/main" val="2834012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D20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C9243-5213-46B3-83D4-04DCCA3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BLOK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A442-6463-457E-B39B-3A57DE40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Ćwiczenie: pierwszy uczciwy eksperyment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EDB88-14E2-4F16-9E4C-63CFEF2F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2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78CF9-97E8-4B0B-A332-06E81A16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F6882-50FD-4F32-8D0A-7127E11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30C5D-EA34-4C39-8F07-C14D88BA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5BA0F-47F5-40E6-878D-371CA15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621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Zdefiniuj 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8F18C-7998-4388-97FB-97A064E4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62175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Prognoza miesięcznego kWh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890E2-3D6D-4974-B87E-7EA041C3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14FC5-7DB3-488E-9A63-9815BF29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860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6D518-071C-4B1D-A4B3-C097921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9527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Zbadaj dane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82DA3-98BA-400E-A349-6B87AC3B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52750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Typy, braki, rozkłady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D7209-CB40-4B5B-B7AF-C63CE4AD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17063-021D-43EC-B602-F85F3E1C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766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1C56F-E72E-4EAA-AE50-49673CC2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Podziel zbiór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49654-2D3A-4629-A042-96A4AEA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43325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Przeszłość przed przyszłością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F3D9-76AC-4449-A437-5469AAFD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203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1406B-7D93-4440-BE4B-DFE2F685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672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3C48C-5587-4825-971F-0716DF76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5339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Zbuduj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C7CB5-29C9-4740-953E-BFCFEEB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33900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Imputacja, skalowanie, Ridge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8ABCF-60C5-43B3-ABA3-D61B6924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346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0F396-8EEF-41DE-841F-6C4FEA29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DE2D1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9C346-22C4-471C-B471-9F7D6926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244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5F9FC"/>
                </a:solidFill>
                <a:latin typeface="DejaVu Sans"/>
                <a:ea typeface="DejaVu Sans"/>
                <a:cs typeface="DejaVu Sans"/>
              </a:rPr>
              <a:t>Oceń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E101F-3837-4862-9A61-B709F97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24475"/>
            <a:ext cx="595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BDCC"/>
                </a:solidFill>
                <a:latin typeface="DejaVu Sans"/>
                <a:ea typeface="DejaVu Sans"/>
                <a:cs typeface="DejaVu Sans"/>
              </a:rPr>
              <a:t>MAE na odłożonym okresie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25FBF-F2EE-4CF3-B295-9BB57B64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66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B66D"/>
                </a:solidFill>
                <a:latin typeface="DejaVu Sans"/>
                <a:ea typeface="DejaVu Sans"/>
                <a:cs typeface="DejaVu Sans"/>
              </a:rPr>
              <a:t>Wynik: notebook z kodem, MAE i krótką interpretacją</a:t>
            </a:r>
          </a:p>
        </p:txBody>
      </p:sp>
    </p:spTree>
    <p:extLst>
      <p:ext uri="{BB962C8B-B14F-4D97-AF65-F5344CB8AC3E}">
        <p14:creationId xmlns:p14="http://schemas.microsoft.com/office/powerpoint/2010/main" val="471157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2026-09-28T07:12:25.6560000Z</dcterms:created>
  <dcterms:modified xsi:type="dcterms:W3CDTF">2026-09-28T07:12:25.6560000Z</dcterms:modified>
</coreProperties>
</file>