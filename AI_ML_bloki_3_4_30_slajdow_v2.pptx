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eeea85e9414307" /><Relationship Type="http://schemas.openxmlformats.org/officeDocument/2006/relationships/extended-properties" Target="/docProps/app.xml" Id="R5488b1a7c3714f78" /><Relationship Type="http://schemas.openxmlformats.org/officeDocument/2006/relationships/officeDocument" Target="/ppt/presentation.xml" Id="R41f055e3294049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a4ce6771cb400a"/>
  </p:sldMasterIdLst>
  <p:notesMasterIdLst>
    <p:notesMasterId xmlns:r="http://schemas.openxmlformats.org/officeDocument/2006/relationships" r:id="R44842dea8bd74039"/>
  </p:notesMasterIdLst>
  <p:sldIdLst>
    <p:sldId xmlns:r="http://schemas.openxmlformats.org/officeDocument/2006/relationships" id="256" r:id="Rb391abc8f2a245ea"/>
    <p:sldId xmlns:r="http://schemas.openxmlformats.org/officeDocument/2006/relationships" id="257" r:id="R12b51891f96949d3"/>
    <p:sldId xmlns:r="http://schemas.openxmlformats.org/officeDocument/2006/relationships" id="258" r:id="R07d2514e97964cd3"/>
    <p:sldId xmlns:r="http://schemas.openxmlformats.org/officeDocument/2006/relationships" id="259" r:id="R4372de85544948ec"/>
    <p:sldId xmlns:r="http://schemas.openxmlformats.org/officeDocument/2006/relationships" id="260" r:id="R39563f1a5929467c"/>
    <p:sldId xmlns:r="http://schemas.openxmlformats.org/officeDocument/2006/relationships" id="261" r:id="R1debd8434acf4fe6"/>
    <p:sldId xmlns:r="http://schemas.openxmlformats.org/officeDocument/2006/relationships" id="262" r:id="R415231ddd0944ac9"/>
    <p:sldId xmlns:r="http://schemas.openxmlformats.org/officeDocument/2006/relationships" id="263" r:id="Ra5a6e9d48654408d"/>
    <p:sldId xmlns:r="http://schemas.openxmlformats.org/officeDocument/2006/relationships" id="264" r:id="R35b03a09a3224b09"/>
    <p:sldId xmlns:r="http://schemas.openxmlformats.org/officeDocument/2006/relationships" id="265" r:id="R39e7741a840c42dc"/>
    <p:sldId xmlns:r="http://schemas.openxmlformats.org/officeDocument/2006/relationships" id="266" r:id="Rd1753a22c5ba4022"/>
    <p:sldId xmlns:r="http://schemas.openxmlformats.org/officeDocument/2006/relationships" id="267" r:id="R22a4937383f44a22"/>
    <p:sldId xmlns:r="http://schemas.openxmlformats.org/officeDocument/2006/relationships" id="268" r:id="R300f41e4e2d24635"/>
    <p:sldId xmlns:r="http://schemas.openxmlformats.org/officeDocument/2006/relationships" id="269" r:id="Rdfa0c127249f4ab9"/>
    <p:sldId xmlns:r="http://schemas.openxmlformats.org/officeDocument/2006/relationships" id="270" r:id="R704b56e9f1e84f18"/>
    <p:sldId xmlns:r="http://schemas.openxmlformats.org/officeDocument/2006/relationships" id="271" r:id="R16564fa2d5d24168"/>
    <p:sldId xmlns:r="http://schemas.openxmlformats.org/officeDocument/2006/relationships" id="272" r:id="R6c8c36bf207e434e"/>
    <p:sldId xmlns:r="http://schemas.openxmlformats.org/officeDocument/2006/relationships" id="273" r:id="R0f92780a42c346a8"/>
    <p:sldId xmlns:r="http://schemas.openxmlformats.org/officeDocument/2006/relationships" id="274" r:id="Re112b82f783b427e"/>
    <p:sldId xmlns:r="http://schemas.openxmlformats.org/officeDocument/2006/relationships" id="275" r:id="R3df753a9d15040bf"/>
    <p:sldId xmlns:r="http://schemas.openxmlformats.org/officeDocument/2006/relationships" id="276" r:id="Rb5a2515b23fc47ef"/>
    <p:sldId xmlns:r="http://schemas.openxmlformats.org/officeDocument/2006/relationships" id="277" r:id="R56c6a8fbe3704333"/>
    <p:sldId xmlns:r="http://schemas.openxmlformats.org/officeDocument/2006/relationships" id="278" r:id="Re18adef2a4d64c48"/>
    <p:sldId xmlns:r="http://schemas.openxmlformats.org/officeDocument/2006/relationships" id="279" r:id="Ra65044052fc24f31"/>
    <p:sldId xmlns:r="http://schemas.openxmlformats.org/officeDocument/2006/relationships" id="280" r:id="Rdc998f97b9444a5f"/>
    <p:sldId xmlns:r="http://schemas.openxmlformats.org/officeDocument/2006/relationships" id="281" r:id="R16d31e8b726446b0"/>
    <p:sldId xmlns:r="http://schemas.openxmlformats.org/officeDocument/2006/relationships" id="282" r:id="R16f7b71ff0434abf"/>
    <p:sldId xmlns:r="http://schemas.openxmlformats.org/officeDocument/2006/relationships" id="283" r:id="R95c43e6c3d4645c4"/>
    <p:sldId xmlns:r="http://schemas.openxmlformats.org/officeDocument/2006/relationships" id="284" r:id="Rce36602b36874318"/>
    <p:sldId xmlns:r="http://schemas.openxmlformats.org/officeDocument/2006/relationships" id="285" r:id="R06a4d34e1d0748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e47ffee56445a8" /><Relationship Type="http://schemas.openxmlformats.org/officeDocument/2006/relationships/slideMaster" Target="/ppt/slideMasters/slideMaster1.xml" Id="R1aa4ce6771cb400a" /><Relationship Type="http://schemas.openxmlformats.org/officeDocument/2006/relationships/notesMaster" Target="/ppt/notesMasters/notesMaster1.xml" Id="R44842dea8bd74039" /><Relationship Type="http://schemas.openxmlformats.org/officeDocument/2006/relationships/presProps" Target="/ppt/presProps.xml" Id="Ra67dae30cdcc4440" /><Relationship Type="http://schemas.openxmlformats.org/officeDocument/2006/relationships/tableStyles" Target="/ppt/tableStyles.xml" Id="R458c6139dff94d10" /><Relationship Type="http://schemas.openxmlformats.org/officeDocument/2006/relationships/slide" Target="/ppt/slides/slide1.xml" Id="Rb391abc8f2a245ea" /><Relationship Type="http://schemas.openxmlformats.org/officeDocument/2006/relationships/slide" Target="/ppt/slides/slide2.xml" Id="R12b51891f96949d3" /><Relationship Type="http://schemas.openxmlformats.org/officeDocument/2006/relationships/slide" Target="/ppt/slides/slide3.xml" Id="R07d2514e97964cd3" /><Relationship Type="http://schemas.openxmlformats.org/officeDocument/2006/relationships/slide" Target="/ppt/slides/slide4.xml" Id="R4372de85544948ec" /><Relationship Type="http://schemas.openxmlformats.org/officeDocument/2006/relationships/slide" Target="/ppt/slides/slide5.xml" Id="R39563f1a5929467c" /><Relationship Type="http://schemas.openxmlformats.org/officeDocument/2006/relationships/slide" Target="/ppt/slides/slide6.xml" Id="R1debd8434acf4fe6" /><Relationship Type="http://schemas.openxmlformats.org/officeDocument/2006/relationships/slide" Target="/ppt/slides/slide7.xml" Id="R415231ddd0944ac9" /><Relationship Type="http://schemas.openxmlformats.org/officeDocument/2006/relationships/slide" Target="/ppt/slides/slide8.xml" Id="Ra5a6e9d48654408d" /><Relationship Type="http://schemas.openxmlformats.org/officeDocument/2006/relationships/slide" Target="/ppt/slides/slide9.xml" Id="R35b03a09a3224b09" /><Relationship Type="http://schemas.openxmlformats.org/officeDocument/2006/relationships/slide" Target="/ppt/slides/slide10.xml" Id="R39e7741a840c42dc" /><Relationship Type="http://schemas.openxmlformats.org/officeDocument/2006/relationships/slide" Target="/ppt/slides/slide11.xml" Id="Rd1753a22c5ba4022" /><Relationship Type="http://schemas.openxmlformats.org/officeDocument/2006/relationships/slide" Target="/ppt/slides/slide12.xml" Id="R22a4937383f44a22" /><Relationship Type="http://schemas.openxmlformats.org/officeDocument/2006/relationships/slide" Target="/ppt/slides/slide13.xml" Id="R300f41e4e2d24635" /><Relationship Type="http://schemas.openxmlformats.org/officeDocument/2006/relationships/slide" Target="/ppt/slides/slide14.xml" Id="Rdfa0c127249f4ab9" /><Relationship Type="http://schemas.openxmlformats.org/officeDocument/2006/relationships/slide" Target="/ppt/slides/slide15.xml" Id="R704b56e9f1e84f18" /><Relationship Type="http://schemas.openxmlformats.org/officeDocument/2006/relationships/slide" Target="/ppt/slides/slide16.xml" Id="R16564fa2d5d24168" /><Relationship Type="http://schemas.openxmlformats.org/officeDocument/2006/relationships/slide" Target="/ppt/slides/slide17.xml" Id="R6c8c36bf207e434e" /><Relationship Type="http://schemas.openxmlformats.org/officeDocument/2006/relationships/slide" Target="/ppt/slides/slide18.xml" Id="R0f92780a42c346a8" /><Relationship Type="http://schemas.openxmlformats.org/officeDocument/2006/relationships/slide" Target="/ppt/slides/slide19.xml" Id="Re112b82f783b427e" /><Relationship Type="http://schemas.openxmlformats.org/officeDocument/2006/relationships/slide" Target="/ppt/slides/slide20.xml" Id="R3df753a9d15040bf" /><Relationship Type="http://schemas.openxmlformats.org/officeDocument/2006/relationships/slide" Target="/ppt/slides/slide21.xml" Id="Rb5a2515b23fc47ef" /><Relationship Type="http://schemas.openxmlformats.org/officeDocument/2006/relationships/slide" Target="/ppt/slides/slide22.xml" Id="R56c6a8fbe3704333" /><Relationship Type="http://schemas.openxmlformats.org/officeDocument/2006/relationships/slide" Target="/ppt/slides/slide23.xml" Id="Re18adef2a4d64c48" /><Relationship Type="http://schemas.openxmlformats.org/officeDocument/2006/relationships/slide" Target="/ppt/slides/slide24.xml" Id="Ra65044052fc24f31" /><Relationship Type="http://schemas.openxmlformats.org/officeDocument/2006/relationships/slide" Target="/ppt/slides/slide25.xml" Id="Rdc998f97b9444a5f" /><Relationship Type="http://schemas.openxmlformats.org/officeDocument/2006/relationships/slide" Target="/ppt/slides/slide26.xml" Id="R16d31e8b726446b0" /><Relationship Type="http://schemas.openxmlformats.org/officeDocument/2006/relationships/slide" Target="/ppt/slides/slide27.xml" Id="R16f7b71ff0434abf" /><Relationship Type="http://schemas.openxmlformats.org/officeDocument/2006/relationships/slide" Target="/ppt/slides/slide28.xml" Id="R95c43e6c3d4645c4" /><Relationship Type="http://schemas.openxmlformats.org/officeDocument/2006/relationships/slide" Target="/ppt/slides/slide29.xml" Id="Rce36602b36874318" /><Relationship Type="http://schemas.openxmlformats.org/officeDocument/2006/relationships/slide" Target="/ppt/slides/slide30.xml" Id="R06a4d34e1d0748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807ac6e39e41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b0006f18104871" /><Relationship Type="http://schemas.openxmlformats.org/officeDocument/2006/relationships/notesMaster" Target="/ppt/notesMasters/notesMaster1.xml" Id="Rdd47641aa8cf43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70abf5c15f434f" /><Relationship Type="http://schemas.openxmlformats.org/officeDocument/2006/relationships/notesMaster" Target="/ppt/notesMasters/notesMaster1.xml" Id="Rf937273c1e3f40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d9b9fde2d947ab" /><Relationship Type="http://schemas.openxmlformats.org/officeDocument/2006/relationships/notesMaster" Target="/ppt/notesMasters/notesMaster1.xml" Id="R6f25bc5f79a54a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376ac6db7e48af" /><Relationship Type="http://schemas.openxmlformats.org/officeDocument/2006/relationships/notesMaster" Target="/ppt/notesMasters/notesMaster1.xml" Id="Rd122ea57393a48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2c630a37884ca3" /><Relationship Type="http://schemas.openxmlformats.org/officeDocument/2006/relationships/notesMaster" Target="/ppt/notesMasters/notesMaster1.xml" Id="R83b9cabab76243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cc2254013d4b12" /><Relationship Type="http://schemas.openxmlformats.org/officeDocument/2006/relationships/notesMaster" Target="/ppt/notesMasters/notesMaster1.xml" Id="R58de7f77909147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f110304ce240e7" /><Relationship Type="http://schemas.openxmlformats.org/officeDocument/2006/relationships/notesMaster" Target="/ppt/notesMasters/notesMaster1.xml" Id="Ra9254d0b6d9247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f9adc9d96244e0" /><Relationship Type="http://schemas.openxmlformats.org/officeDocument/2006/relationships/notesMaster" Target="/ppt/notesMasters/notesMaster1.xml" Id="Rb8b11cb6c68f46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96c86f76b34131" /><Relationship Type="http://schemas.openxmlformats.org/officeDocument/2006/relationships/notesMaster" Target="/ppt/notesMasters/notesMaster1.xml" Id="R773fe747e07d43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4b3655b92f481e" /><Relationship Type="http://schemas.openxmlformats.org/officeDocument/2006/relationships/notesMaster" Target="/ppt/notesMasters/notesMaster1.xml" Id="Rc7a14415533d46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5e4f97740c4c79" /><Relationship Type="http://schemas.openxmlformats.org/officeDocument/2006/relationships/notesMaster" Target="/ppt/notesMasters/notesMaster1.xml" Id="Rc2ca11f058014f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cfd3df57534e95" /><Relationship Type="http://schemas.openxmlformats.org/officeDocument/2006/relationships/notesMaster" Target="/ppt/notesMasters/notesMaster1.xml" Id="Rdc8f1a7f80e840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486bdd26be46bc" /><Relationship Type="http://schemas.openxmlformats.org/officeDocument/2006/relationships/notesMaster" Target="/ppt/notesMasters/notesMaster1.xml" Id="R3409f82acd6842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73f3de960e46e6" /><Relationship Type="http://schemas.openxmlformats.org/officeDocument/2006/relationships/notesMaster" Target="/ppt/notesMasters/notesMaster1.xml" Id="R70d2fe3e216347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6c960f1f6641ed" /><Relationship Type="http://schemas.openxmlformats.org/officeDocument/2006/relationships/notesMaster" Target="/ppt/notesMasters/notesMaster1.xml" Id="R09ae75e98b8841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02e328eb11497e" /><Relationship Type="http://schemas.openxmlformats.org/officeDocument/2006/relationships/notesMaster" Target="/ppt/notesMasters/notesMaster1.xml" Id="R798fcbfe7fe94b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31f07673274373" /><Relationship Type="http://schemas.openxmlformats.org/officeDocument/2006/relationships/notesMaster" Target="/ppt/notesMasters/notesMaster1.xml" Id="Rbd438b35fb7b4d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175f19706f4423" /><Relationship Type="http://schemas.openxmlformats.org/officeDocument/2006/relationships/notesMaster" Target="/ppt/notesMasters/notesMaster1.xml" Id="Re9079b2f23f846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a82db6d3794f82" /><Relationship Type="http://schemas.openxmlformats.org/officeDocument/2006/relationships/notesMaster" Target="/ppt/notesMasters/notesMaster1.xml" Id="R400c0fc1b4f744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794b3333cf04d10" /><Relationship Type="http://schemas.openxmlformats.org/officeDocument/2006/relationships/notesMaster" Target="/ppt/notesMasters/notesMaster1.xml" Id="R1f2360dfb8e04a1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5b74d160e848b2" /><Relationship Type="http://schemas.openxmlformats.org/officeDocument/2006/relationships/notesMaster" Target="/ppt/notesMasters/notesMaster1.xml" Id="Rafd917d2b6c14d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cd9d2060b53458c" /><Relationship Type="http://schemas.openxmlformats.org/officeDocument/2006/relationships/notesMaster" Target="/ppt/notesMasters/notesMaster1.xml" Id="R7bf37f5b271d479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695fa948d154a32" /><Relationship Type="http://schemas.openxmlformats.org/officeDocument/2006/relationships/notesMaster" Target="/ppt/notesMasters/notesMaster1.xml" Id="R75635172877a479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d8b75c4950a4fbb" /><Relationship Type="http://schemas.openxmlformats.org/officeDocument/2006/relationships/notesMaster" Target="/ppt/notesMasters/notesMaster1.xml" Id="R955fd929bdfb466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5cf584c70914c60" /><Relationship Type="http://schemas.openxmlformats.org/officeDocument/2006/relationships/notesMaster" Target="/ppt/notesMasters/notesMaster1.xml" Id="Ref683ea2d53e4ff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cd92d1de8ae42cf" /><Relationship Type="http://schemas.openxmlformats.org/officeDocument/2006/relationships/notesMaster" Target="/ppt/notesMasters/notesMaster1.xml" Id="R00a654080d1d44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297bb1189764d39" /><Relationship Type="http://schemas.openxmlformats.org/officeDocument/2006/relationships/notesMaster" Target="/ppt/notesMasters/notesMaster1.xml" Id="R6cfdc98eb915426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f29444195af436b" /><Relationship Type="http://schemas.openxmlformats.org/officeDocument/2006/relationships/notesMaster" Target="/ppt/notesMasters/notesMaster1.xml" Id="R57c9e82e623240e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62b5fd7eccb4de6" /><Relationship Type="http://schemas.openxmlformats.org/officeDocument/2006/relationships/notesMaster" Target="/ppt/notesMasters/notesMaster1.xml" Id="R1e0eceff20494c3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c3af161c5284c45" /><Relationship Type="http://schemas.openxmlformats.org/officeDocument/2006/relationships/notesMaster" Target="/ppt/notesMasters/notesMaster1.xml" Id="Re93e8770dfda41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Druga część kursu, kontynuacja bloków I i II. Grafika koncepcyjna. Dane liczbowe w przykładach są dydaktyczne.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Powiąż tę część z poprzednią: dane i Pipeline są przygotowane, teraz porównujemy rodziny modeli i poznajemy sieci neuronowe.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Przejście do modeli. Podkreśl, że większa złożoność nie jest domyślnie lepsza.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Zacznij od baseline: średniej, mediany, poprzedniej wartości lub najczęstszej klasy. Dopiero poprawa względem takiej bazy uzasadnia bardziej złożony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MAE i RMSE to metryki regresji. R²=1 oznacza idealne dopasowanie, 0 poziom bazowej średniej na danym zbiorze, wartości ujemne są możliwe. Źródło: 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Wyjaśnij współczynniki, intercept i współliniowość. Ridge stosuje karę L2, Lasso L1. Porównanie tylko w tej samej procedurze walidacji.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jest liniowy względem współczynników, choć nieliniowy względem wejściowego x. Stopień i siła regularizacji to hiperparametry. Pipelines zapobiegają wyciekowi transformacji.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Regresja logistyczna jest klasyfikatorem. Próg 0,5 jest tylko ustawieniem, nie uniwersalną decyzją. Kalibrację prawdopodobieństw oceniaj osobno.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Suma 18+2+12+68=100. Macierz zależy od przyjętego progu. Ustal jednoznacznie pozytywną klasę. Dane wyłącznie ilustracyjne.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Accuracy=(TP+TN)/100=86%. Precision=18/(18+12)=60%. Recall=18/(18+2)=90%. F1=72%. Nie ma jednej metryki idealnej dla wszystkich zadań. Źródło: 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k-NN i SVM są wrażliwe na skale cech, a SVM na C i kernel. Wyjaśnij intuicję margin bez wchodzenia w dual optimization.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Drzewo dzieli przestrzeń rekurencyjnie. Ograniczenie głębokości lub liczby próbek w liściu reguluje złożoność. Interpretowalność ma granice dla bardzo dużych drzew.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Bagging ogranicza wariancję przez agregację, boosting buduje model sekwencyjnie. Nie utożsamiaj liczby drzew z gwarancją lepszego wyniku.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Skalowanie może zmieniać odległości i wynik klastrowania. DBSCAN zależy od eps/min_samples. Nie oceniaj klastrów jak etykiet klasyfikacyjnych bez zewnętrznej prawdy.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PCA jest uczeniem nienadzorowanym. Fit musi nastąpić tylko na treningu. Centrowanie/skala są istotne; wizualizacja dwóch składowych nie jest dowodem separowalności klas.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Przy CV Pipeline dopasowuje preprocessing osobno w każdym foldzie. Źródło: https://scikit-learn.org/stable/modules/cross_validation.html. Wzorzec ColumnTransformer zgodny z oficjalnym API scikit-learn.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Wartości F1 są ilustracyjne. Przy grupach użyj grupowego CV, przy szeregu czasowym podziału respektującego czas. Nie wykonuj preprocessingu przed foldami. Źródło: 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Strojenie odbywa się w walidacji CV na treningu. Powtarzane wybieranie na teście przenosi wyciek do procesu decyzyjnego. Źródło: https://scikit-learn.org/stable/auto_examples/model_selection/plot_nested_cross_validation_iris.html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Przejście od klasycznych modeli do sieci. Algorytmy ML i sieci różnią się pojemnością i reprezentacjami, ale podlegają tej samej zasadzie uczciwej walidacji.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Neuron matematyczny jest uproszczonym elementem obliczeniowym. Wagi określają wpływ wejść, bias przesuwa funkcję, aktywacja wprowadza nieliniowość.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MLP, Multi-Layer Perceptron. W tabelach cechy są często ręcznie przygotowane; głębokie sieci mogą uczyć reprezentacje pośrednie, ale wymagają starannej walidacji.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Dobór aktywacji wyjścia musi pasować do funkcji straty i kodowania etykiet. Softmax nie gwarantuje kalibracji prawdopodobieństw.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Autodifferentiation wykonuje obliczanie gradientów w praktycznych frameworkach. Backpropagation liczy gradient, optimizer aktualizuje parametry. Źródło: https://docs.pytorch.org/tutorials/beginner/basics/autograd_tutorial.html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Wartości ilustracyjne. Adam adaptuje kroki dla parametrów, ale learning rate nadal wymaga doboru. Obserwuj loss, gradienty i stabilność.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 uproszczeniu 10 pełnych batchy dla 1000 obserwacji. Ostatni batch może być mniejszy, a kolejność danych bywa tasowana. Źródło: https://keras.io/getting_started/faq/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Keras EarlyStopping monitoruje wskazaną metrykę i działa na końcu epoki. Dropout aktywny w treningu, nie w zwykłej ewaluacji. Źródła: https://keras.io/api/callbacks/early_stopping/ oraz https://keras.io/api/models/model_training_apis/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Kod tworzy model, lecz pełny eksperyment wymaga danych, podziału, fit, ewaluacji i baseline. Keras Sequential przyjmuje Input i Dense. Źródła: https://keras.io/guides/sequential_model/ i https://keras.io/guides/training_with_built_in_methods/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Ilustracja: w epoce 8 najniższy val loss, później rośnie. Kryterium early stopping powinno wynikać z monitorowanej metryki. Training and validation loss mogą być w różnych skalach z uwagi na regularizację i tryb obliczeń.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mapa koncepcyjna, nie sztywna reguła. Transformery stosuje się też do obrazów i innych modalności, a CNN i RNN nadal mają zastosowania.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Finał: klasyczne ML, sieci i modele generatywne łączy konieczność określenia zadania i uczciwej ewaluacji. W inference model wykorzystuje już wytrenowane parametry. Zaproponuj dyskusję: kiedy mały model tabelaryczny wystarczy, a kiedy potrzebny jest model głęboki?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ade8ee593443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5d698399964ed1" /><Relationship Type="http://schemas.openxmlformats.org/officeDocument/2006/relationships/slideLayout" Target="/ppt/slideLayouts/slideLayout1.xml" Id="Rd0eda36d08e54c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eda36d08e54c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c8825b1de4b81" /><Relationship Type="http://schemas.openxmlformats.org/officeDocument/2006/relationships/image" Target="/ppt/media/image.png" Id="R590226bbd1f44221" /><Relationship Type="http://schemas.openxmlformats.org/officeDocument/2006/relationships/notesSlide" Target="/ppt/notesSlides/notesSlide1.xml" Id="R686d39038c0647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a6f74f2e3417f" /><Relationship Type="http://schemas.openxmlformats.org/officeDocument/2006/relationships/notesSlide" Target="/ppt/notesSlides/notesSlide2.xml" Id="R1cbeef584ebe4f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35d58e15b4d0a" /><Relationship Type="http://schemas.openxmlformats.org/officeDocument/2006/relationships/image" Target="/ppt/media/image2.png" Id="R249475ad14794802" /><Relationship Type="http://schemas.openxmlformats.org/officeDocument/2006/relationships/notesSlide" Target="/ppt/notesSlides/notesSlide3.xml" Id="Rbe84f664d9a846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97030b3eb4392" /><Relationship Type="http://schemas.openxmlformats.org/officeDocument/2006/relationships/notesSlide" Target="/ppt/notesSlides/notesSlide4.xml" Id="R07f715c59dd142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66c60ec914e0c" /><Relationship Type="http://schemas.openxmlformats.org/officeDocument/2006/relationships/notesSlide" Target="/ppt/notesSlides/notesSlide5.xml" Id="R22643de5b3154f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bf9072a2a407a" /><Relationship Type="http://schemas.openxmlformats.org/officeDocument/2006/relationships/notesSlide" Target="/ppt/notesSlides/notesSlide6.xml" Id="Rd8267c3f932f4b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8f11cb5644fe6" /><Relationship Type="http://schemas.openxmlformats.org/officeDocument/2006/relationships/notesSlide" Target="/ppt/notesSlides/notesSlide7.xml" Id="R0c20dd88091440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61554aa704856" /><Relationship Type="http://schemas.openxmlformats.org/officeDocument/2006/relationships/notesSlide" Target="/ppt/notesSlides/notesSlide8.xml" Id="R889bc3dd89a449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383f97b5541a9" /><Relationship Type="http://schemas.openxmlformats.org/officeDocument/2006/relationships/notesSlide" Target="/ppt/notesSlides/notesSlide9.xml" Id="R36356270bf6943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0e1a7934b4a3b" /><Relationship Type="http://schemas.openxmlformats.org/officeDocument/2006/relationships/notesSlide" Target="/ppt/notesSlides/notesSlide10.xml" Id="R694e8f1f85524d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409b0a25e4d2d" /><Relationship Type="http://schemas.openxmlformats.org/officeDocument/2006/relationships/notesSlide" Target="/ppt/notesSlides/notesSlide11.xml" Id="R832ed85e0ab74d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3c6e5e99847af" /><Relationship Type="http://schemas.openxmlformats.org/officeDocument/2006/relationships/notesSlide" Target="/ppt/notesSlides/notesSlide12.xml" Id="Rda72fc987f9d4a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eec746cd04228" /><Relationship Type="http://schemas.openxmlformats.org/officeDocument/2006/relationships/notesSlide" Target="/ppt/notesSlides/notesSlide13.xml" Id="R19ae60f390ff49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505479daa45f0" /><Relationship Type="http://schemas.openxmlformats.org/officeDocument/2006/relationships/notesSlide" Target="/ppt/notesSlides/notesSlide14.xml" Id="R8ff4f77838ed45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b560c27424fea" /><Relationship Type="http://schemas.openxmlformats.org/officeDocument/2006/relationships/notesSlide" Target="/ppt/notesSlides/notesSlide15.xml" Id="R8c6803a7cd2c4c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adbbbfe1146a8" /><Relationship Type="http://schemas.openxmlformats.org/officeDocument/2006/relationships/notesSlide" Target="/ppt/notesSlides/notesSlide16.xml" Id="R248aa761a77a46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0ddf98a364295" /><Relationship Type="http://schemas.openxmlformats.org/officeDocument/2006/relationships/notesSlide" Target="/ppt/notesSlides/notesSlide17.xml" Id="R101142171f344c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76f2a36b2488c" /><Relationship Type="http://schemas.openxmlformats.org/officeDocument/2006/relationships/notesSlide" Target="/ppt/notesSlides/notesSlide18.xml" Id="Rf6846360ce684e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7f2b6d6a947ff" /><Relationship Type="http://schemas.openxmlformats.org/officeDocument/2006/relationships/image" Target="/ppt/media/image3.png" Id="R468e7474c392402d" /><Relationship Type="http://schemas.openxmlformats.org/officeDocument/2006/relationships/notesSlide" Target="/ppt/notesSlides/notesSlide19.xml" Id="Rf989b6fccc644f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e12a54efb43e1" /><Relationship Type="http://schemas.openxmlformats.org/officeDocument/2006/relationships/notesSlide" Target="/ppt/notesSlides/notesSlide20.xml" Id="Ra0405972305f4b1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0125194b74350" /><Relationship Type="http://schemas.openxmlformats.org/officeDocument/2006/relationships/notesSlide" Target="/ppt/notesSlides/notesSlide21.xml" Id="Rb6110345fe91450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de8cd1e1e4018" /><Relationship Type="http://schemas.openxmlformats.org/officeDocument/2006/relationships/notesSlide" Target="/ppt/notesSlides/notesSlide22.xml" Id="R9ea0cd9edfb949e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e050d661f4272" /><Relationship Type="http://schemas.openxmlformats.org/officeDocument/2006/relationships/notesSlide" Target="/ppt/notesSlides/notesSlide23.xml" Id="R1242397983ea4ef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9f65288854623" /><Relationship Type="http://schemas.openxmlformats.org/officeDocument/2006/relationships/notesSlide" Target="/ppt/notesSlides/notesSlide24.xml" Id="Rf44fd79c3087478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6dd91e1214e7c" /><Relationship Type="http://schemas.openxmlformats.org/officeDocument/2006/relationships/notesSlide" Target="/ppt/notesSlides/notesSlide25.xml" Id="R5410912daeb2456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8f2c7ab394cc4" /><Relationship Type="http://schemas.openxmlformats.org/officeDocument/2006/relationships/notesSlide" Target="/ppt/notesSlides/notesSlide26.xml" Id="R0ca1f35cbef341e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7403f916a4bc9" /><Relationship Type="http://schemas.openxmlformats.org/officeDocument/2006/relationships/notesSlide" Target="/ppt/notesSlides/notesSlide27.xml" Id="R5ed9cdc8cf3e42c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b6934596c44f5" /><Relationship Type="http://schemas.openxmlformats.org/officeDocument/2006/relationships/notesSlide" Target="/ppt/notesSlides/notesSlide28.xml" Id="Rd27a7262037b4de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f1e26635547fd" /><Relationship Type="http://schemas.openxmlformats.org/officeDocument/2006/relationships/notesSlide" Target="/ppt/notesSlides/notesSlide29.xml" Id="Ra3b17281814d483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676805e2948d2" /><Relationship Type="http://schemas.openxmlformats.org/officeDocument/2006/relationships/notesSlide" Target="/ppt/notesSlides/notesSlide30.xml" Id="R300783a6afd249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226bbd1f4422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C8EEA-3398-4F9B-8FF5-88E01654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825C7-E562-4276-B6FE-5DC8CBC0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AI  /  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1C1F4-6E1B-4AD2-8AA7-D1CD8822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695825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442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Modele</a:t>
            </a:r>
          </a:p>
          <a:p xmlns:a="http://schemas.openxmlformats.org/drawingml/2006/main">
            <a:pPr algn="l">
              <a:defRPr sz="442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442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i sieci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0B7CA-5F43-43B2-906D-CAF56BA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4619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Blok III: algorytmy Machine Learning</a:t>
            </a:r>
          </a:p>
          <a:p xmlns:a="http://schemas.openxmlformats.org/drawingml/2006/main">
            <a:pPr algn="l">
              <a:defRPr sz="16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Blok IV: sieci neuronowe i Deep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029FA-252D-4DA6-A372-93EEA15C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428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CZĘŚĆ II  ·  30 SLAJDÓW</a:t>
            </a:r>
          </a:p>
        </p:txBody>
      </p:sp>
    </p:spTree>
    <p:extLst>
      <p:ext uri="{BB962C8B-B14F-4D97-AF65-F5344CB8AC3E}">
        <p14:creationId xmlns:p14="http://schemas.microsoft.com/office/powerpoint/2010/main" val="2121007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E98E5-5BC5-4839-B939-E3A67B93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PLAN ZAJĘĆ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3338A-1412-43B4-B7E9-B1B3255C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Od dobrego eksperymentu do sieci neuronowej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43163-8DB4-4B53-A0E1-5E42AC75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C6D68-85F2-4C40-8983-D333EDD7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94FB0-8926-4A45-A2DF-FD661C4C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5048250" cy="3286125"/>
          </a:xfrm>
          <a:prstGeom xmlns:a="http://schemas.openxmlformats.org/drawingml/2006/main" prst="roundRect">
            <a:avLst>
              <a:gd name="adj" fmla="val 405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BF5E0-D97D-4D73-84E3-50EE2894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571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BBFEA-A811-4F39-A557-75CFDFED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57425"/>
            <a:ext cx="455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BLOK III  ·  Algorytmy 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EDD8E-D01A-4AFC-8785-31881AD6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45529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Regresja, klasyfikacja, modele zespołowe i uczenie nienadzorowane. Metryki, walidacja i wybór modelu.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CD8CB-BF70-4D0D-B0AC-005C3850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8350"/>
            <a:ext cx="5524500" cy="3286125"/>
          </a:xfrm>
          <a:prstGeom xmlns:a="http://schemas.openxmlformats.org/drawingml/2006/main" prst="roundRect">
            <a:avLst>
              <a:gd name="adj" fmla="val 405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4B001-7E01-4F97-9A4E-FF97D2F2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8350"/>
            <a:ext cx="571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07534-5D23-46A1-A64F-44A2381E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502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BLOK IV  ·  Deep Learning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64951-21A6-44C1-93CC-016C7B26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86075"/>
            <a:ext cx="50292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Neuron, warstwy, trening, regularizacja i przegląd architektur. Pierwsza sieć w Keras.</a:t>
            </a:r>
          </a:p>
        </p:txBody>
      </p:sp>
    </p:spTree>
    <p:extLst>
      <p:ext uri="{BB962C8B-B14F-4D97-AF65-F5344CB8AC3E}">
        <p14:creationId xmlns:p14="http://schemas.microsoft.com/office/powerpoint/2010/main" val="89834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475ad1479480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5DF8A-2D9B-4509-A0CE-9B30D30B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8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B4C14-684D-424F-98DB-E720E2EF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9457B-7971-4826-A512-D98A4F9D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44291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Algorytmy</a:t>
            </a:r>
          </a:p>
          <a:p xmlns:a="http://schemas.openxmlformats.org/drawingml/2006/main">
            <a:pPr algn="l">
              <a:defRPr sz="37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Machine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1BBF1-6A33-4C09-88CE-710A3783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286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Model dobieramy do zadania i oceniamy na nowych danych.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EAC60-12B8-4042-BD87-4FF3E19E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9937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0ACB2-4710-4D22-B364-67522821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5F271-69E3-4A4F-B95E-51F2B747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Najpierw pytanie, potem rodzina modelu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68D3B-0819-4A71-BDE9-FC86E423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BF3FB-3245-494A-8507-0C8B2F48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0B829-C7BD-492E-9F97-CBB18EAA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744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C3E3B-66B1-48CF-A3A0-0AF1A94A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Liczba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A952E-5BDD-4101-B3AC-1B02B88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4790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Regresja przewiduje wartość, np. kWh lub cenę.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34A96-0A04-44E9-87A1-F294BE2D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744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0FAD1-6F33-4773-BDE5-D9C7C49A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Kategoria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602C0-2035-4EB0-82B1-E7AF97CB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1470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Klasyfikacja przewiduje klasę lub jej prawdopodobieństwo.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01494-2FBC-43E8-9167-6AC7AF01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744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23AA4-2731-41D5-882F-2BA3E044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Brak etykiety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6B060-1615-4BA4-A64D-6EF9FD10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38150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Clustering i PCA szukają struktury w cechach.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4621E-8063-4BE2-8628-DAF988DC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Punkt odniesienia: najprostsza sensowna prognoza</a:t>
            </a:r>
          </a:p>
        </p:txBody>
      </p:sp>
    </p:spTree>
    <p:extLst>
      <p:ext uri="{BB962C8B-B14F-4D97-AF65-F5344CB8AC3E}">
        <p14:creationId xmlns:p14="http://schemas.microsoft.com/office/powerpoint/2010/main" val="705510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3F06B-5A3D-4123-AB96-24DD6485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3FCE9-CAD9-41F6-981B-65593225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Regresja: błąd liczony w jednostkach celu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B58E5-DB0A-4766-850A-24026879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5FA18-5E83-413A-B760-D9C699CD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F29A2-CA66-4A1A-BE4F-2B709D8C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2905125"/>
          </a:xfrm>
          <a:prstGeom xmlns:a="http://schemas.openxmlformats.org/drawingml/2006/main" prst="roundRect">
            <a:avLst>
              <a:gd name="adj" fmla="val 459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3CD01-B0A6-4130-8476-15C2AB79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FAF92-AF69-437F-9FA2-E98D9E85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F45C7-973D-49DB-BF89-2A0A0F28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38475"/>
            <a:ext cx="28384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Średnia wartość bezwzględnego błędu. Dla energii wynik ma jednostkę kWh.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B2593-1721-4663-AAEE-391F67FB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333750" cy="2905125"/>
          </a:xfrm>
          <a:prstGeom xmlns:a="http://schemas.openxmlformats.org/drawingml/2006/main" prst="roundRect">
            <a:avLst>
              <a:gd name="adj" fmla="val 459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C21F5-BC82-4194-8E97-B08D825F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571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AD37A-5978-4A98-9B69-642DCDD8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9825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92C2C-E095-43E4-B8D2-1FE0D5AA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38475"/>
            <a:ext cx="28384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Silniej reaguje na duże pomyłki. Też wyrażamy go w jednostkach celu.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8D12F-6109-42E6-A47C-388A1057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3333750" cy="2905125"/>
          </a:xfrm>
          <a:prstGeom xmlns:a="http://schemas.openxmlformats.org/drawingml/2006/main" prst="roundRect">
            <a:avLst>
              <a:gd name="adj" fmla="val 459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D5580-A7F5-48EB-9E40-1F18FC9A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571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25955-9CA9-4B76-8965-305EDC0C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9825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R²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10CC9-D97E-4908-B6A0-59460A1D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38475"/>
            <a:ext cx="28384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Porównuje model z prognozą stałą opartą na średniej. Może być ujemne.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67AA5-E881-4CA3-9D9C-2B0E027C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Porównaj każdy model z baseline na tym samym teście</a:t>
            </a:r>
          </a:p>
        </p:txBody>
      </p:sp>
    </p:spTree>
    <p:extLst>
      <p:ext uri="{BB962C8B-B14F-4D97-AF65-F5344CB8AC3E}">
        <p14:creationId xmlns:p14="http://schemas.microsoft.com/office/powerpoint/2010/main" val="16819733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16767-907B-4C0C-9AD1-A17C101B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A2ED4-7C8B-47EC-9C9F-ADB3676A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Regresja liniowa, Ridge i Lasso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EAD83-43BA-4AAE-A60A-760AC2F2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505B6-592E-49D6-AC09-BDF969BE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DAFCC-1944-4539-A9AC-BC13C4E2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744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867D6-BA43-4311-B174-F478938D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LinearRegression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BC3DF-EDCC-43E9-9A7B-F8D6E5EA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9075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Dopasowuje liniową zależność cech i wyniku.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095A0-200D-48BC-A832-5F4AACCE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44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E2593-DCAE-45AE-BB87-72B5475C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61EB6-16A7-42BC-845A-0C120FD3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67075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Kara za duże współczynniki stabilizuje dopasowanie.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5931A-7F46-4688-A506-E86DEE86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744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17DE1-280B-4866-B133-D800DF6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Lasso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FDA81-65FB-4E43-9B12-C7590E1C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34340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Może wyzerować część współczynników.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464CB-0A34-42AC-A719-2BD07B1A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Skalowanie cech ma znaczenie przy regularizacji</a:t>
            </a:r>
          </a:p>
        </p:txBody>
      </p:sp>
    </p:spTree>
    <p:extLst>
      <p:ext uri="{BB962C8B-B14F-4D97-AF65-F5344CB8AC3E}">
        <p14:creationId xmlns:p14="http://schemas.microsoft.com/office/powerpoint/2010/main" val="12609236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0938B-C590-4C95-A9BE-FB85708D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82EFA-AF61-4FA1-98CE-07AE533A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Krzywa wielomianowa nadal może być regresją liniową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26679-C667-47A6-94FE-E8FDB911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AA414-DA50-4E72-B7B7-7DAE4246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0295A-99AC-4BA9-AD1D-60633932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820400" cy="29337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610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38471-9B0F-4AFC-BCE8-3BC35BED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x  →  [x, x², x³]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41736-26D7-443F-AC8D-AF719E67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Pipeline: PolynomialFeatures → StandardScaler → Ridge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201DE-43EB-415D-B8D0-71D7654B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Stopień 1: możliwe niedouczenie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7C61B-CCE2-44FA-B419-124CD4D1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480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Stopień wysoki: ryzyko przeuczenia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FE774-09A3-44D9-A8F7-1E5B0FD3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Stopień wielomianu wybieramy na walidacji, nie na teście</a:t>
            </a:r>
          </a:p>
        </p:txBody>
      </p:sp>
    </p:spTree>
    <p:extLst>
      <p:ext uri="{BB962C8B-B14F-4D97-AF65-F5344CB8AC3E}">
        <p14:creationId xmlns:p14="http://schemas.microsoft.com/office/powerpoint/2010/main" val="2123998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6217E-7652-4BDF-887F-AF4B4DF0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19398-5CA0-4D6F-9291-EA8CD0FD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Klasyfikacja: decyzja zależy także od progu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34CEE-7047-489A-846E-25ACCD33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436B2-0395-4730-A977-D6725477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B3D9A-0B05-4F75-8E73-55AFB5FF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0,73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92EFF-8FC5-48F8-B7E6-84FD19CA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Oszacowane prawdopodobieństwo odejścia klienta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1BA83-C5FC-418C-8D3B-2B6E67F0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05050"/>
            <a:ext cx="3429000" cy="2895600"/>
          </a:xfrm>
          <a:prstGeom xmlns:a="http://schemas.openxmlformats.org/drawingml/2006/main" prst="roundRect">
            <a:avLst>
              <a:gd name="adj" fmla="val 4605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D6000-E77A-425A-8A4E-20156131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05050"/>
            <a:ext cx="571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E0C49-8E1F-417D-A452-FF99786D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24125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Próg 0,50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C5ED2-C8A2-4FFB-ADBF-344AB20F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52775"/>
            <a:ext cx="29337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Model oznaczy klienta jako przypadek pozytywny. Przy progu 0,80 wynik byłby negatywny.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7BA09-68A3-49A1-9023-292EA0B4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Próg dobieramy do kosztu błędów i jakości prawdopodobieństw</a:t>
            </a:r>
          </a:p>
        </p:txBody>
      </p:sp>
    </p:spTree>
    <p:extLst>
      <p:ext uri="{BB962C8B-B14F-4D97-AF65-F5344CB8AC3E}">
        <p14:creationId xmlns:p14="http://schemas.microsoft.com/office/powerpoint/2010/main" val="741152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FDBC2-F0DD-4C4F-80A4-077825E6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8EC2B-E50B-4D26-82E5-11E011CB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Macierz pomyłek: policz cztery sytuacje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7AA0C-2CD5-45AA-9CCD-4DD640F9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573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Przykład dydaktyczny: 100 klientów, klasa pozytywna = odejście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FE9F9-1F34-43CC-A469-D86E3DF3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8F310-9921-4C6A-8406-C5C35B69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5C2E4-2FAE-45F6-ADBA-3F61A662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5048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D577C-4AC9-412F-B743-330F574C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6222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TP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78B55-22A5-4799-AEDE-F96B5BF8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CBC41-1DA4-4006-9949-640B12C7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6222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Odszedł, model ostrzegł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9C5AE-F06B-4937-B9FE-DD44506D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5048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7AEE8-C23B-48A9-8F6F-9244E366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6222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7584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7584"/>
                </a:solidFill>
                <a:latin typeface="DejaVu Sans"/>
                <a:ea typeface="DejaVu Sans"/>
                <a:cs typeface="DejaVu Sans"/>
              </a:rPr>
              <a:t>FN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2D92C-D320-4DD3-A481-1AFA979A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6222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7EA0E-771B-4A24-B43F-877CA392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6222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Odszedł, model nie ostrzegł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191B2-723F-4611-ACC8-5A253BB6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5048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1823C-0D1D-4969-9C9B-82B1AF9D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8147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FP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89B16-12CD-4820-B3D8-1FF47582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8147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693C7-A19E-408C-9E6D-E0BBF2B9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8147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Został, model ostrzegł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A3EC8-72EA-4771-8470-DE8837BF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52875"/>
            <a:ext cx="5048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CADF4F-5973-4657-A58B-A0474068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8147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TN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3C150-968B-48A1-8A7C-5C3413C3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8147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68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2206B9-9FBA-4EF2-8971-760C2B4C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8147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Został, model nie ostrzegł</a:t>
            </a:r>
          </a:p>
        </p:txBody>
      </p:sp>
    </p:spTree>
    <p:extLst>
      <p:ext uri="{BB962C8B-B14F-4D97-AF65-F5344CB8AC3E}">
        <p14:creationId xmlns:p14="http://schemas.microsoft.com/office/powerpoint/2010/main" val="15406994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4A940-2CAC-44EB-9167-04EA3D42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E49D2-7C82-4C93-93E6-2C50442D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Accuracy 86% nie opowiada całej historii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815A9-4055-414E-A743-00B46DBE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08660-B21A-4F89-B07B-5A006D87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51F1F-9364-4F5A-99C1-8EED5866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28850"/>
            <a:ext cx="3286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60%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1E832-4255-4943-BE96-5519B9F1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71850"/>
            <a:ext cx="328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Precision: 18 z 30 ostrzeżeń było trafnych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27187-AD26-4E7A-9D36-343AE5EA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28850"/>
            <a:ext cx="3286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90%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49AB2-5D6D-47A6-A258-25C18AF4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328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Recall: wykryto 18 z 20 odejść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B2D18-DD27-4CF0-B9C5-5D27A31A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28850"/>
            <a:ext cx="3286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7584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FF7584"/>
                </a:solidFill>
                <a:latin typeface="DejaVu Sans"/>
                <a:ea typeface="DejaVu Sans"/>
                <a:cs typeface="DejaVu Sans"/>
              </a:rPr>
              <a:t>72%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C79C0-DB7F-49A3-B1FB-0A8E1FC0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71850"/>
            <a:ext cx="328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F1: średnia harmoniczna precision i 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39959-42DA-4170-921A-24991CF1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2927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Koszt FN i FP zależy od decyzji biznesowej</a:t>
            </a:r>
          </a:p>
        </p:txBody>
      </p:sp>
    </p:spTree>
    <p:extLst>
      <p:ext uri="{BB962C8B-B14F-4D97-AF65-F5344CB8AC3E}">
        <p14:creationId xmlns:p14="http://schemas.microsoft.com/office/powerpoint/2010/main" val="16794670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C747D-948F-4F10-A336-5058E2FA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9D9BE-E3AA-407B-9C9A-F8AD5827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k-NN i SVM: geometria cech ma znaczenie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2A616-93FA-4F5D-8D2E-DFE22184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A4F1F-8E67-4F0D-BD29-3C5AB14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DDCAB-F289-49C9-9B7B-829D74CD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9530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287DA-D627-418C-9927-29B358D3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EB375-391D-4275-960E-4780BF43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445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 najbliższych sąsiadów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F2566-BFD5-4BE1-BB2D-956860ED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44577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Nowy punkt dziedziczy etykietę z lokalnego otoczenia. Wybór k zmienia gładkość granicy.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B460C-130B-4EBC-93AD-A5A61B70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52650"/>
            <a:ext cx="49530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19AC3-AF74-42B0-95F4-73262912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526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54413-E432-453E-AA58-F4BC0170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71725"/>
            <a:ext cx="445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Maszyna wektorów nośnych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F9C77-BBBC-4E49-BD74-5564B6DE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00375"/>
            <a:ext cx="44577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Szuka granicy między klasami; kernel pozwala modelować nieliniowe podziały.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F9A50-382C-4D19-8251-DF636352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Skalowanie i dobór hiperparametrów wykonujemy w Pipeline</a:t>
            </a:r>
          </a:p>
        </p:txBody>
      </p:sp>
    </p:spTree>
    <p:extLst>
      <p:ext uri="{BB962C8B-B14F-4D97-AF65-F5344CB8AC3E}">
        <p14:creationId xmlns:p14="http://schemas.microsoft.com/office/powerpoint/2010/main" val="5201667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FEBE4-0F98-4856-A1A1-651D7A7A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03000-59D2-48C2-9925-9D6D0197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Drzewo decyzyjne dzieli dane pytaniami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ECD31-0FB9-46C1-B625-C127C8B7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5614E-7431-4C27-9854-505DFB9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672C8-5564-40B6-B98D-5F9DB5BC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7442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C2006-B295-4550-9530-FDD4197E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Pytanie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9E9CA-9D20-4BC7-B846-9B488445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2885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Czy zużycie w ostatnim miesiącu przekracza próg?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20CDD-B293-43C9-AA52-10A791A3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7442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BE449-4F8D-4626-80E6-D24BCDFF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Pytanie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8E641-8CF8-4C7A-AB14-1EDD846F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1470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Czy budynek ma więcej niż 20 lat?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63DED-3D9D-4DF9-91EE-E1D4C5DF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7442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25BD7-C348-44CF-AE85-636A6066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Liść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420F5-99DA-4B35-913D-98484B6A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0055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Zwróć prognozę lub rozkład klas w tej grupie.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CA11A-771C-40B3-B8C7-F9F1FE2B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72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Głębokie drzewo może zapamiętać szczegóły treningu</a:t>
            </a:r>
          </a:p>
        </p:txBody>
      </p:sp>
    </p:spTree>
    <p:extLst>
      <p:ext uri="{BB962C8B-B14F-4D97-AF65-F5344CB8AC3E}">
        <p14:creationId xmlns:p14="http://schemas.microsoft.com/office/powerpoint/2010/main" val="16324337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61DB6-CFA6-4734-B4BB-C911F107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2D1FE-B59B-4E47-908D-0F8D756E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Zespoły modeli poprawiają stabilność lub korygują błędy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2D97D-6352-4841-8600-C121D378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CD514-60D4-4EF1-AAAC-2A023BE2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93E92-2919-4EF6-96F5-7D6FCA18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52800" cy="3219450"/>
          </a:xfrm>
          <a:prstGeom xmlns:a="http://schemas.openxmlformats.org/drawingml/2006/main" prst="roundRect">
            <a:avLst>
              <a:gd name="adj" fmla="val 4142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CF7C0-9F31-4675-A447-348BCCB5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7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15545-0254-408C-9B8F-E8807350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Random Forest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AD135-20AF-41D7-86B2-543A280F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85750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Wiele drzew trenowanych na losowanych próbkach i podzbiorach cech; wyniki są agregowane.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066B1-39FE-4291-9B9B-0BE0FD81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3352800" cy="3219450"/>
          </a:xfrm>
          <a:prstGeom xmlns:a="http://schemas.openxmlformats.org/drawingml/2006/main" prst="roundRect">
            <a:avLst>
              <a:gd name="adj" fmla="val 4142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7577E-C967-4335-82F9-E61B524B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57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657C0-8108-43C4-A912-84AA0DA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145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Gradient Boosting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B09EA-888C-4F10-A43C-4287A9B5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43225"/>
            <a:ext cx="285750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Kolejne drzewa stopniowo poprawiają błędy wcześniejszego zespołu.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34329-4352-46F0-A413-73545B58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352800" cy="3219450"/>
          </a:xfrm>
          <a:prstGeom xmlns:a="http://schemas.openxmlformats.org/drawingml/2006/main" prst="roundRect">
            <a:avLst>
              <a:gd name="adj" fmla="val 4142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B3969-6D53-4D7E-B71E-3B84F235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57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E9E6C-28BA-4833-8C78-11F5746C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145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Granica wyboru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964C8-8C5D-462D-8696-0C4D00AB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43225"/>
            <a:ext cx="285750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Porównaj jakość, czas, wielkość danych i możliwość wyjaśnienia wyniku.</a:t>
            </a:r>
          </a:p>
        </p:txBody>
      </p:sp>
    </p:spTree>
    <p:extLst>
      <p:ext uri="{BB962C8B-B14F-4D97-AF65-F5344CB8AC3E}">
        <p14:creationId xmlns:p14="http://schemas.microsoft.com/office/powerpoint/2010/main" val="16241278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B3D64-E600-46B9-9103-BF2E0D3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D91E7-3471-4B93-8495-7508E0CD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Clustering znajduje grupy bez etykiet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565DF-E786-4A6F-97FD-F028ED4C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CB652-A3B4-4E10-BC74-21382100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5D6F9-D8D0-473D-826B-7E98112F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9530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948AA-3500-4BD8-8532-8AC74DAC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8B724-32CD-4CC0-AEA2-F1953BC8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445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k-means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A49E3-1F8E-4CD4-B751-E87F8A5F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44577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Zadana liczba k klastrów. Algorytm dopasowuje środki grup i przypisuje punkty.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5E95F-0FE6-4D71-BDCC-2798CF02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0275"/>
            <a:ext cx="49530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F8950-2A60-4E72-BE34-F9768892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0275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88260-3A5D-43B9-AED5-DE0A3221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19350"/>
            <a:ext cx="445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DBSCAN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9AE80-40AE-424E-BB4F-DEFF9FD8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48000"/>
            <a:ext cx="44577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Łączy gęste obszary i może oznaczać punkty jako szum. Nie wymaga 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D00F3-43D8-4555-89C4-E8498D16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150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Klaster otrzymuje znaczenie dopiero po analizie jego cech</a:t>
            </a:r>
          </a:p>
        </p:txBody>
      </p:sp>
    </p:spTree>
    <p:extLst>
      <p:ext uri="{BB962C8B-B14F-4D97-AF65-F5344CB8AC3E}">
        <p14:creationId xmlns:p14="http://schemas.microsoft.com/office/powerpoint/2010/main" val="8511747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022BF-C339-445F-BD9E-1F46F0F2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1313E-6C84-4506-8409-C42DE090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PCA kompresuje cechy, zachowując wariancję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EB76A-2BAA-4F55-B9BD-55011C88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399E9-C376-469C-99A8-5413693F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00B73-800B-4E1B-8B0C-DE8EC51D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74420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BEA9D-6D2D-4B20-8D27-04935892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Wejście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35D5E-E925-4F6A-8B33-63191EAF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2885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Wiele skorelowanych cech liczbowych.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E73FB-7336-457B-850D-AF976AAB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74420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1AB92-54B5-48B3-AE6F-CFB73F20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Transformacja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03E5E-68AF-4912-9708-BF71C60F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7660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Nowe osie to kombinacje pierwotnych cech.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B5EB3-4467-4055-AB58-3FD4589B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4420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B5834-0E4D-4735-B25D-00462758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Wynik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D191F-5DCF-4E38-893C-3A619527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32435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Mniej wymiarów do wizualizacji lub modelowania.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9E469-1D21-41E2-9AF6-FAC2B0E5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53100"/>
            <a:ext cx="1052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Duża wariancja nie oznacza automatycznie dużej przydatności dla celu</a:t>
            </a:r>
          </a:p>
        </p:txBody>
      </p:sp>
    </p:spTree>
    <p:extLst>
      <p:ext uri="{BB962C8B-B14F-4D97-AF65-F5344CB8AC3E}">
        <p14:creationId xmlns:p14="http://schemas.microsoft.com/office/powerpoint/2010/main" val="19919803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87A02-5354-4C0F-93B0-20A0CCE8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8AFA6-43CD-42F6-9816-67DFD242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Przygotowanie danych należy do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61262-350E-44E7-8F3B-BF26958C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29C53-46B9-41CA-95C1-99303E8E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71EAC-9968-41C9-8945-BB846BD3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095625"/>
          </a:xfrm>
          <a:prstGeom xmlns:a="http://schemas.openxmlformats.org/drawingml/2006/main" prst="roundRect">
            <a:avLst>
              <a:gd name="adj" fmla="val 4308"/>
            </a:avLst>
          </a:prstGeom>
          <a:solidFill xmlns:a="http://schemas.openxmlformats.org/drawingml/2006/main">
            <a:srgbClr val="0610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A460B-2EDF-4212-B254-3293BF36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numeryczne  →  imputacja → StandardScaler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AA41E-532D-4F6A-989A-3F87B97C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kategorie   →  imputacja → OneHotEncoder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ED083-44DB-4BB2-9561-1314C270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ColumnTransformer łączy obie ścieżki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1CEE3-8C25-4DDC-BE89-1A6CA2AC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Pipeline: preprocessing →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58EE6-3797-4672-A06F-CAF09103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Każdy fold walidacji uczy transformacje na własnym treningu</a:t>
            </a:r>
          </a:p>
        </p:txBody>
      </p:sp>
    </p:spTree>
    <p:extLst>
      <p:ext uri="{BB962C8B-B14F-4D97-AF65-F5344CB8AC3E}">
        <p14:creationId xmlns:p14="http://schemas.microsoft.com/office/powerpoint/2010/main" val="458264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E19C8-5A6C-40C4-A7EF-D9386922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79601-9C88-4A5E-8071-F6892CBE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Walidacja krzyżowa pokazuje zmienność wyniku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5D131-31CE-4696-B3BD-1C060DD5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C65A4-D3E4-4C4D-BC9B-49953D60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95469-EF6F-4C80-AC43-49E874A6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1809750" cy="20193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43810-DE77-44D9-93EB-357012FF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FOLD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09206-607E-42E3-9A34-62A4B617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0,78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496AB-B3AC-426B-B8F5-255DAC27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200275"/>
            <a:ext cx="1809750" cy="20193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DF053-5B72-4975-B005-E4A201FB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0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FOLD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99C65-ABCE-48B9-A798-C5C35321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33725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0,82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7D5EC-6FE4-4017-AD81-E8C6A63B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1809750" cy="20193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37912-3DBF-45F2-A8E3-C7F02E24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00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FOLD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E3E1E-C94A-4421-AC1A-9C20F85C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33725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0,75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A03CD-D144-4ABC-9F5A-5FB595C1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00275"/>
            <a:ext cx="1809750" cy="20193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90081-3A1E-404F-8222-2476968B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00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FOLD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F7674-2735-4E64-BEF5-04D6E5FD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33725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0,81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D320FD-2952-4575-88C1-362B7F7D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0275"/>
            <a:ext cx="1809750" cy="20193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0A31AD-D233-4547-8D4C-5CE63067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00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FOLD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2E809-990F-432C-B237-E3FC41C6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33725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0,79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E638C-8B5A-4029-956D-6FB23200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62525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Średnia ≈ 0,79  ·  rozrzut ma znaczenie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E28D8F-1C38-4845-BB39-89A0134D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Grupy i czas wymagają odpowiedniego sposobu podziału</a:t>
            </a:r>
          </a:p>
        </p:txBody>
      </p:sp>
    </p:spTree>
    <p:extLst>
      <p:ext uri="{BB962C8B-B14F-4D97-AF65-F5344CB8AC3E}">
        <p14:creationId xmlns:p14="http://schemas.microsoft.com/office/powerpoint/2010/main" val="13868419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35581-B268-4CC8-BD72-4317F85D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DBD6F-2966-413D-8A63-1D0C7073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Strojenie kończy się jednym sprawdzianem na teście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18C52-B014-4AB1-AB2A-94980B82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119CD-4411-4C84-961D-1CC22C41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DF184-AB14-4A15-9602-CC3AB9B1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744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341F4-40C5-4FDA-BF9A-F8917F3E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GridSearchCV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1C23C-7629-493E-8E9E-66F4ACE5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2885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Systematycznie sprawdza wskazane kombinacje.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A20C2-A510-457E-A8C8-FFF0BAE5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44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3AE62-FC3A-4947-9D2B-0D5EA9C4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Losowe strojenie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83438-450B-42D3-B20A-4BCF343E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9565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RandomizedSearchCV próbkuje z zadanych rozkładów.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4A3B0-F6E5-4EAF-B4FC-6EC4217E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744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009A4-866D-4D83-B896-444A758B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Test końcowy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E94A0-B675-4260-B013-F74932CD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36245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Użyj po wyborze procesu i modelu.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30736-26A4-46CA-8D38-198D920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531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Wynik testowy nie powinien sterować kolejnymi próbami</a:t>
            </a:r>
          </a:p>
        </p:txBody>
      </p:sp>
    </p:spTree>
    <p:extLst>
      <p:ext uri="{BB962C8B-B14F-4D97-AF65-F5344CB8AC3E}">
        <p14:creationId xmlns:p14="http://schemas.microsoft.com/office/powerpoint/2010/main" val="11692941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e7474c392402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CEAED-9C5D-48F0-95B8-718B5E4F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8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B719D-4A73-44B4-9FA7-612C5B2D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04EDF-70DC-4493-B2D5-45F346FF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44291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Sieci neuronowe</a:t>
            </a:r>
          </a:p>
          <a:p xmlns:a="http://schemas.openxmlformats.org/drawingml/2006/main">
            <a:pPr algn="l">
              <a:defRPr sz="37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i Deep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9070F-5AD6-444C-BD32-F0E2F500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286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Jak parametry, warstwy i gradient składają się na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BB8E9-0AA6-4A74-9E16-416C5410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712898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4DDC8-804B-4C4B-8205-C6EBC02F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3D8E7-68C0-4FCB-BBD6-FADEB925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Sztuczny neuron: suma, bias, aktywacja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4E269-1354-4790-9B1A-807CD8A7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E6BF1-3920-4FDF-998E-856326AE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811AC-3DF8-4422-8CF8-3DCEB462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3837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z = w₁x₁ + w₂x₂ + … +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754B1-DA0E-4AE6-863E-7BC2C35F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1470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a = φ(z)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B275F-E319-4156-985E-6A272F46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00575"/>
            <a:ext cx="10477500" cy="1209675"/>
          </a:xfrm>
          <a:prstGeom xmlns:a="http://schemas.openxmlformats.org/drawingml/2006/main" prst="roundRect">
            <a:avLst>
              <a:gd name="adj" fmla="val 1102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41AAD-3CFC-408B-8DC1-39D78CB7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00575"/>
            <a:ext cx="5715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12369-D6CB-48DC-8356-9FCF5528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819650"/>
            <a:ext cx="998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W trakcie uczenia zmieniają się wagi i bias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38D3A-9FC4-4FD4-86A9-03C09ECF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448300"/>
            <a:ext cx="998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Funkcja aktywacji decyduje, jak sygnał przechodzi dalej.</a:t>
            </a:r>
          </a:p>
        </p:txBody>
      </p:sp>
    </p:spTree>
    <p:extLst>
      <p:ext uri="{BB962C8B-B14F-4D97-AF65-F5344CB8AC3E}">
        <p14:creationId xmlns:p14="http://schemas.microsoft.com/office/powerpoint/2010/main" val="17522730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1E13F-D2F7-49F2-A93C-3417C28F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0D15A-8D15-416F-83F0-FE96707F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MLP: warstwy tworzą kolejne reprezentacje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F7CAD-067D-4820-9AD8-ECC91089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2701B-80E9-4AA1-A73C-CB3D4484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0D66F-794E-4731-B7F0-DE0AB109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66950"/>
            <a:ext cx="2428875" cy="2428875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1BCF4-31F6-4F39-A2FF-0A92B74A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050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WEJŚCIE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560F6-A60E-473A-9D99-201009BE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09950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8 cech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E978F-ECA2-4604-A80D-2476F114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95625"/>
            <a:ext cx="371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30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8BC1D-1FF4-44AC-B0E2-B5BF6FBC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2428875" cy="2428875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A4CCE-733F-4FC1-A4D7-BAFADEFF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50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UKRYTA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2CBB8-22A0-440B-911B-7DBB72DB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32 neurony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5BFF1-EB58-4454-8313-6CAA368B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95625"/>
            <a:ext cx="371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30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F19BF-5FCC-4414-9942-8ED5DA8E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66950"/>
            <a:ext cx="2428875" cy="2428875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51980-7995-49E0-94A8-91E0918A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050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5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7584"/>
                </a:solidFill>
                <a:latin typeface="DejaVu Sans"/>
                <a:ea typeface="DejaVu Sans"/>
                <a:cs typeface="DejaVu Sans"/>
              </a:rPr>
              <a:t>UKRYTA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55190-EDDA-4AA3-9E9F-C2433C24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09950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16 neuronów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884E2-823A-42E1-8508-5473DC95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95625"/>
            <a:ext cx="371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30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B5991-C4D9-4EEE-80A9-FFB3FD1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66950"/>
            <a:ext cx="2428875" cy="2428875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98423-9E56-45DC-ACA9-AA58CA30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050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WYJŚCIE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99E35-786B-4C05-AB02-596C43CF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09950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1 wynik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46802-CB10-4B31-8E9F-EAACFC7D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483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Więcej warstw i neuronów zwiększa pojemność oraz koszt treningu</a:t>
            </a:r>
          </a:p>
        </p:txBody>
      </p:sp>
    </p:spTree>
    <p:extLst>
      <p:ext uri="{BB962C8B-B14F-4D97-AF65-F5344CB8AC3E}">
        <p14:creationId xmlns:p14="http://schemas.microsoft.com/office/powerpoint/2010/main" val="3538168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8C145-74CB-4FE4-BC4C-DD6C2922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32BF8-62E0-4348-A167-C3E5508E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Aktywacja nadaje sieci nieliniowość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D0C8D-3AF7-46B9-83E3-53ED3C54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C3EEC-B3E6-480F-B314-FF905C79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000FB-FC6F-43BB-A79F-0E63B8E7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0"/>
            <a:ext cx="3352800" cy="3209925"/>
          </a:xfrm>
          <a:prstGeom xmlns:a="http://schemas.openxmlformats.org/drawingml/2006/main" prst="roundRect">
            <a:avLst>
              <a:gd name="adj" fmla="val 415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9EEA2-175A-49B0-B60F-FE739B9D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0"/>
            <a:ext cx="5715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C13CF-2EEE-4941-A2C8-BEC5CB21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145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ReLU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5AD03-503F-48D5-B487-894B252C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43225"/>
            <a:ext cx="2857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Częsty wybór w warstwach ukrytych. Zeruje wartości ujemne.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BFB57-AD6C-4915-9DB1-993767CE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352800" cy="3209925"/>
          </a:xfrm>
          <a:prstGeom xmlns:a="http://schemas.openxmlformats.org/drawingml/2006/main" prst="roundRect">
            <a:avLst>
              <a:gd name="adj" fmla="val 415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FF4B7-6D8E-4D4A-8948-245F171E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5715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FD5A4-4704-4CC0-B6D7-4A7E752D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Sigmoid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4DDEB-642F-4553-A990-76EAFFB7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43225"/>
            <a:ext cx="2857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Mapuje pojedynczy logit do zakresu (0, 1). Użyteczna w wyjściu binarnym.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33DA8-1985-4D04-97D0-9FF0A7C1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3352800" cy="3209925"/>
          </a:xfrm>
          <a:prstGeom xmlns:a="http://schemas.openxmlformats.org/drawingml/2006/main" prst="roundRect">
            <a:avLst>
              <a:gd name="adj" fmla="val 415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9B258-A25A-4902-AF8C-5F6793A8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5715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53F36-A8E3-4A3C-B430-F928EFC0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145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Softmax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EEA41-6772-4138-9D44-B3BCBA63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943225"/>
            <a:ext cx="2857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Tworzy rozkład wyników dla rozłącznych klas w klasyfikacji wieloklasowej.</a:t>
            </a:r>
          </a:p>
        </p:txBody>
      </p:sp>
    </p:spTree>
    <p:extLst>
      <p:ext uri="{BB962C8B-B14F-4D97-AF65-F5344CB8AC3E}">
        <p14:creationId xmlns:p14="http://schemas.microsoft.com/office/powerpoint/2010/main" val="17074596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4E826-E16E-4BC7-9C19-F304142E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BB274-DD45-4772-810E-5F27AFC2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Uczenie sieci składa się z dwóch przejść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3F59A-70BF-457B-B80B-4E3415E3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ACFCA-2298-4681-8115-631C3EFF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C7CA8-B2A4-45C3-A6C9-96460B27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4825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51FD1-054D-454B-B22C-D8FCEF7C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B426C-A36C-4E66-8D33-29B68481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455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1. Forward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A65B2-E5CB-41BC-999D-797AB0BC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9425"/>
            <a:ext cx="45529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Dane przechodzą przez warstwy. Model zwraca przewidywanie, a funkcja straty oblicza błąd.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15DA8-72F5-4C1F-8620-8ABB0C23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71700"/>
            <a:ext cx="504825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75192-4F39-4079-A9AF-1C2F3DD8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717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F7B8D-18BA-4CD9-8A38-9B64E39A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90775"/>
            <a:ext cx="455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2. Backpropagation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01F8D-6046-48F0-BD69-BE4A5D7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9425"/>
            <a:ext cx="45529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Reguła łańcuchowa wyznacza gradient straty względem parametrów. Optymalizator je aktualizuje.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DE2C3-DE45-4EF0-AFFB-69B388BE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Jedna aktualizacja wykorzystuje aktualną porcję danych</a:t>
            </a:r>
          </a:p>
        </p:txBody>
      </p:sp>
    </p:spTree>
    <p:extLst>
      <p:ext uri="{BB962C8B-B14F-4D97-AF65-F5344CB8AC3E}">
        <p14:creationId xmlns:p14="http://schemas.microsoft.com/office/powerpoint/2010/main" val="11802727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CF35C-DB72-43FC-B5E3-91FC52A7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17B81-82CC-4728-A9BA-3A490306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Learning rate reguluje wielkość kroku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692AA-E522-4F0A-B04D-AE61FFBB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8650C-695E-417A-870A-B4436158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14B9A-DF37-483F-AD05-9BDCAC53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47900"/>
            <a:ext cx="331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0,0001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FC68C-C1FA-40D8-B7B9-D2F72D2D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90900"/>
            <a:ext cx="331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Mały krok: wolne uczenie lub utknięcie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EA980-4C2B-40D0-B9B3-212841A4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47900"/>
            <a:ext cx="331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0,01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0B7C9-F601-455D-9634-257C2CE5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331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Właściwy rząd wielkości zależy od zadania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25015-E6B2-4E1D-A23B-08CEE5FB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47900"/>
            <a:ext cx="331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7584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FF7584"/>
                </a:solidFill>
                <a:latin typeface="DejaVu Sans"/>
                <a:ea typeface="DejaVu Sans"/>
                <a:cs typeface="DejaVu Sans"/>
              </a:rPr>
              <a:t>1,0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0E4FB-4A3F-44E5-BCFF-D714F021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390900"/>
            <a:ext cx="331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Zbyt duży krok: niestabilność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EF45B-37AB-4968-AECF-68566263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19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Przykładowe wartości służą intuicji, nie są zaleceniem</a:t>
            </a:r>
          </a:p>
        </p:txBody>
      </p:sp>
    </p:spTree>
    <p:extLst>
      <p:ext uri="{BB962C8B-B14F-4D97-AF65-F5344CB8AC3E}">
        <p14:creationId xmlns:p14="http://schemas.microsoft.com/office/powerpoint/2010/main" val="2414966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ACCD7-B0A4-4A6F-BC55-E2A73494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F3D4D-3AA0-4707-AB10-89FC14DC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Epoch, batch i krok optymalizacji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2A5E7-0082-4F77-91E5-59BF2A72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77761-7A81-4071-B003-4437770D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57EB9-CE8C-4063-AFF2-E681AE13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0744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DAECB-7F91-4624-8B07-AB81A3F4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74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Epoch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CB4B5-5107-498B-9523-41198244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38375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Jedno przejście po całym zbiorze treningowym.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842D9-8B7D-497D-8290-9292B636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744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6EAFD-4E79-4AE8-AA11-FCA9BD01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242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20D63-FB1E-4ABB-AA13-CE810583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Porcja obserwacji użyta w aktualizacji.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4073C-8E8C-4B64-937D-30607A35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744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D24EE-A092-469F-BA5D-D7B2D91F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910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Krok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D98A5-D308-4283-8CE0-1F98683B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371975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Obliczenie gradientu i zmiana parametrów.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7DC4D-D546-49FB-AF6A-BF89BB7A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007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1 000 przykładów / batch 100 ≈ 10 kroków na epokę</a:t>
            </a:r>
          </a:p>
        </p:txBody>
      </p:sp>
    </p:spTree>
    <p:extLst>
      <p:ext uri="{BB962C8B-B14F-4D97-AF65-F5344CB8AC3E}">
        <p14:creationId xmlns:p14="http://schemas.microsoft.com/office/powerpoint/2010/main" val="17881498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829F6-DA5E-4107-A2F2-C18AD158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780D6-67CC-46BF-8EC0-8AD337D4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Walidacja pokazuje, kiedy zatrzymać trening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D30B3-19BC-4CCB-9362-2F25B042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D7415-667D-4394-B0D9-E834DA8D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15460-AC06-47E6-8569-9FC888E9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76450"/>
            <a:ext cx="3352800" cy="3257550"/>
          </a:xfrm>
          <a:prstGeom xmlns:a="http://schemas.openxmlformats.org/drawingml/2006/main" prst="roundRect">
            <a:avLst>
              <a:gd name="adj" fmla="val 409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7BAD5-DC0E-4F2E-BCDC-8EF93823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764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384B3-3DAD-4C7F-82AC-33A0BE81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955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Early stopping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43C60-D010-4519-AF79-C81E79F2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24175"/>
            <a:ext cx="28575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Zatrzymaj trening, gdy wynik walidacyjny przestaje się poprawiać.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8B1D0-3413-4017-8DEC-443DD1A6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3257550"/>
          </a:xfrm>
          <a:prstGeom xmlns:a="http://schemas.openxmlformats.org/drawingml/2006/main" prst="roundRect">
            <a:avLst>
              <a:gd name="adj" fmla="val 409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B112C-CDED-4420-BFE9-26E1B7B4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89F1B-01BB-4862-B8B6-D6246FD7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955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Dropout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1298D-BEF3-4DFC-86B1-F257B734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28575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Losowo wyłącza jednostki podczas treningu jako forma regularizacji.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A9B9B-A0DB-4D85-8BBD-4A2483D9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76450"/>
            <a:ext cx="3352800" cy="3257550"/>
          </a:xfrm>
          <a:prstGeom xmlns:a="http://schemas.openxmlformats.org/drawingml/2006/main" prst="roundRect">
            <a:avLst>
              <a:gd name="adj" fmla="val 409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42E24-98C4-4868-8901-16DC210B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764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5341C-EAEC-4291-9537-465E6FBC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955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Dane i prostota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BE88D-2B55-421F-82D8-5A7CC091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924175"/>
            <a:ext cx="28575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Więcej danych, mniej parametrów i dobre cechy też pomagają.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DAA74-78D1-41A9-8A59-B1D34200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15000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Test pozostaje na końcowy pomiar</a:t>
            </a:r>
          </a:p>
        </p:txBody>
      </p:sp>
    </p:spTree>
    <p:extLst>
      <p:ext uri="{BB962C8B-B14F-4D97-AF65-F5344CB8AC3E}">
        <p14:creationId xmlns:p14="http://schemas.microsoft.com/office/powerpoint/2010/main" val="4199912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0E7A9-C890-42F8-83C5-CA261FFE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E52A4-B1FF-457C-89A6-E134D103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Pierwsza sieć w Keras: czytaj od wejścia do wyjścia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915BD-CAFE-4455-9E72-8209F086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78026-57EF-4241-9A11-3F913396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7DA3C-9607-4277-8171-EB9E9881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337185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0610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137DC-00C2-4498-AA58-CFF6AA35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import keras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7F088-768F-4FDC-BD86-E23AB8A8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model = keras.Sequential([keras.Input(shape=(8,)),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EFD82-E9DF-4795-86B7-5FBFC184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    keras.layers.Dense(32, activation="relu"),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FAE55-5E2C-4C30-81F6-C023584A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    keras.layers.Dense(1)])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8A9A0-E9B0-4931-B346-513CFBC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model.compile(optimizer="adam", loss="mse", metrics=["mae"])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B39E9-4135-4057-9A6E-ACEEF3E8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To schemat regresji z ośmioma cechami wejściowymi</a:t>
            </a:r>
          </a:p>
        </p:txBody>
      </p:sp>
    </p:spTree>
    <p:extLst>
      <p:ext uri="{BB962C8B-B14F-4D97-AF65-F5344CB8AC3E}">
        <p14:creationId xmlns:p14="http://schemas.microsoft.com/office/powerpoint/2010/main" val="3440752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79296-1092-4429-80BD-5469A86C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FAF49-43AB-4E71-A5A0-44247EEF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Krzywe treningowe ujawniają przeuczenie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C0481-4E19-42E3-8DA3-DCA35BCC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573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Ilustracyjne wartości funkcji straty, nie wynik konkretnego modelu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2E925-C96B-4FFE-8555-60E56417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8429A-1386-4970-85B5-FBF3A5E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3B3D7-E093-48CB-9243-44F34B5D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7346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9C229-BC22-49EB-844C-D0E616BC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09825"/>
            <a:ext cx="2619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Epoka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0D34B-D350-46C2-B8F6-DED361FF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09825"/>
            <a:ext cx="295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train 0,80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43992-1AE1-48F1-B2B3-F4A6162B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0982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val 0,86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B6D8B-9BBC-4156-9C2B-0F6A682C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7346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ACACC-6802-4F59-BC1E-2E1265E0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05175"/>
            <a:ext cx="2619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Epoka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2D005-8632-4D04-909B-3C8B6B8C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05175"/>
            <a:ext cx="295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train 0,42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E880E-342C-4722-9F76-1A7E6B70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051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val 0,51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02CB34-BC18-43D8-B068-5C9D90E0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7346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6D9E9-964A-4CDC-9EEA-A62356B2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00525"/>
            <a:ext cx="2619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Epoka 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94B3D-0BB3-4BB6-BD44-6C193018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00525"/>
            <a:ext cx="295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train 0,24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0EC3E-5F5D-4436-9C43-759A4F67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0052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val 0,35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7EE63-4AED-4C94-90BC-F0B8D51C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7346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F2D39-71F7-4E49-BB71-45A479FA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095875"/>
            <a:ext cx="2619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Epoka 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B38B6-E3E8-405E-A5A8-E9384716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95875"/>
            <a:ext cx="295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train 0,15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21D3B-A77D-4443-BFB8-B1E799BD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val 0,43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5C971-226E-46D8-BBD8-99E44C73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1038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Po epoce 8 trening nadal się poprawia, walidacja już nie</a:t>
            </a:r>
          </a:p>
        </p:txBody>
      </p:sp>
    </p:spTree>
    <p:extLst>
      <p:ext uri="{BB962C8B-B14F-4D97-AF65-F5344CB8AC3E}">
        <p14:creationId xmlns:p14="http://schemas.microsoft.com/office/powerpoint/2010/main" val="16717521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446E3-A471-4779-AF02-366EF752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D7C0F-52A1-4FF2-BD79-27EB2D4B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Architekturę dobieramy do struktury danych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34F8E-BCDD-43E7-BA43-9755E6E2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5B0C1-7501-461E-8422-9849676D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F8724-79E3-4BF1-BF53-0F1A953D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76500" cy="33337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A1FBF-EBF3-444F-A6A8-BC61CEDB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D9884-EEE8-41FD-AC7E-4DDFFE2A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7785F-86AA-43A4-91BB-75DFE341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24175"/>
            <a:ext cx="198120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Dane tabelaryczne i wektory cech.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6B842-69BE-49EE-9D7F-98015370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2476500" cy="33337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F3819-13B3-4000-B658-6B056CA9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6BD08-9405-4504-9DC2-86BA3B7D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95525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CNN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752D1-E57E-4742-8431-D1F96843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24175"/>
            <a:ext cx="198120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Lokalne wzorce w obrazach i sygnałach.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F53D6-7EE2-4DA1-B9AC-0738FD67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2476500" cy="33337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4E4A1-095D-4CCD-8D6F-234EE9A0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ACB11-1851-49A2-AB25-2831384D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95525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RNN / LSTM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5D8CE-B0FF-4196-B1BC-E4F5995C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24175"/>
            <a:ext cx="198120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Sekwencje z pamięcią stanu.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B2E4B-92B2-4400-A0F2-5D86D550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2476500" cy="33337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A89B3-066E-4365-BB0F-3EC02460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D5DBA-0EDF-4D75-8A33-9B6DAA1B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95525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Transformer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CCB9D-3472-4898-BC35-C99615BB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24175"/>
            <a:ext cx="198120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Relacje między elementami przez attention.</a:t>
            </a:r>
          </a:p>
        </p:txBody>
      </p:sp>
    </p:spTree>
    <p:extLst>
      <p:ext uri="{BB962C8B-B14F-4D97-AF65-F5344CB8AC3E}">
        <p14:creationId xmlns:p14="http://schemas.microsoft.com/office/powerpoint/2010/main" val="13443451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55494-7C09-41B3-9A86-08A79846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EA257-D1CE-46C2-A146-48899152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Od reprezentacji do współczesnej GenAI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DCCB7-F99E-497A-B319-FB523417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EB7BA-853F-410D-9701-11046E9C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0F521-C856-497B-9073-7D15E210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7442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12220-4CF4-447A-AAE1-27D5CA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Embedding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D0E60-A6EC-4A5B-9F9E-927BC2F1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1455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Ciągły wektor reprezentujący element danych.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7F9C1-A177-46F4-AFE8-C1781EF8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7442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293BF-85C8-42FE-BD84-FFA8A0DE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Attention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32E8B-BAB2-4DA1-B561-37B9B5F6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9085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Mechanizm ważenia relacji między elementami.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767BC-3AC7-4EE1-B500-6CDD0F5E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7442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858D8-1819-4E5C-944E-F2AC64AB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Pretraining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F0FF6-E02A-473D-BB12-8B53EBA1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6715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Uczenie reprezentacji na szerokim zadaniu.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8DB09-13FF-45D5-8E29-3BEAB25D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442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6FF17-1BAF-470D-98EE-C8329EF9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Fine-tuning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A8846-847A-435B-B5B2-DB783D45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743450"/>
            <a:ext cx="750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Dostosowanie modelu do konkretnego celu.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1DFA8-C5D9-47EA-981D-40176EC7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81675"/>
            <a:ext cx="1038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Na każdym etapie pytamy o dane, cel, metrykę i ograniczenia</a:t>
            </a:r>
          </a:p>
        </p:txBody>
      </p:sp>
    </p:spTree>
    <p:extLst>
      <p:ext uri="{BB962C8B-B14F-4D97-AF65-F5344CB8AC3E}">
        <p14:creationId xmlns:p14="http://schemas.microsoft.com/office/powerpoint/2010/main" val="1058566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2026-09-29T05:58:53.5480000Z</dcterms:created>
  <dcterms:modified xsi:type="dcterms:W3CDTF">2026-09-29T05:58:53.5480000Z</dcterms:modified>
</coreProperties>
</file>